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8871f2bbc8f4d1b" /><Relationship Type="http://schemas.openxmlformats.org/officeDocument/2006/relationships/extended-properties" Target="/docProps/app.xml" Id="Rbbcf08d0ed2f4781" /><Relationship Type="http://schemas.openxmlformats.org/officeDocument/2006/relationships/officeDocument" Target="/ppt/presentation.xml" Id="R5b68b040e7ed4ee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4a19c0c5cf94f4b"/>
  </p:sldMasterIdLst>
  <p:notesMasterIdLst>
    <p:notesMasterId xmlns:r="http://schemas.openxmlformats.org/officeDocument/2006/relationships" r:id="R873d3068307b44af"/>
  </p:notesMasterIdLst>
  <p:sldIdLst>
    <p:sldId xmlns:r="http://schemas.openxmlformats.org/officeDocument/2006/relationships" id="256" r:id="R9346e954fd6141b4"/>
    <p:sldId xmlns:r="http://schemas.openxmlformats.org/officeDocument/2006/relationships" id="257" r:id="R9d2fa77f97354c8a"/>
    <p:sldId xmlns:r="http://schemas.openxmlformats.org/officeDocument/2006/relationships" id="258" r:id="Rcce95fcda1534bd1"/>
    <p:sldId xmlns:r="http://schemas.openxmlformats.org/officeDocument/2006/relationships" id="259" r:id="R23547d9567754091"/>
    <p:sldId xmlns:r="http://schemas.openxmlformats.org/officeDocument/2006/relationships" id="260" r:id="R31fd92bd18764df7"/>
    <p:sldId xmlns:r="http://schemas.openxmlformats.org/officeDocument/2006/relationships" id="261" r:id="R2faf8875408147f1"/>
    <p:sldId xmlns:r="http://schemas.openxmlformats.org/officeDocument/2006/relationships" id="262" r:id="R6d40a13831aa4e25"/>
    <p:sldId xmlns:r="http://schemas.openxmlformats.org/officeDocument/2006/relationships" id="263" r:id="Ra61d9b7663034c95"/>
    <p:sldId xmlns:r="http://schemas.openxmlformats.org/officeDocument/2006/relationships" id="264" r:id="Rac8aca26e5a84f24"/>
    <p:sldId xmlns:r="http://schemas.openxmlformats.org/officeDocument/2006/relationships" id="265" r:id="R90fd69e3625d41c4"/>
    <p:sldId xmlns:r="http://schemas.openxmlformats.org/officeDocument/2006/relationships" id="266" r:id="R00105bffdad1495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94b2c374e11420e" /><Relationship Type="http://schemas.openxmlformats.org/officeDocument/2006/relationships/slideMaster" Target="/ppt/slideMasters/slideMaster1.xml" Id="Re4a19c0c5cf94f4b" /><Relationship Type="http://schemas.openxmlformats.org/officeDocument/2006/relationships/notesMaster" Target="/ppt/notesMasters/notesMaster1.xml" Id="R873d3068307b44af" /><Relationship Type="http://schemas.openxmlformats.org/officeDocument/2006/relationships/presProps" Target="/ppt/presProps.xml" Id="Raf56f14f5eeb4618" /><Relationship Type="http://schemas.openxmlformats.org/officeDocument/2006/relationships/viewProps" Target="/ppt/viewProps.xml" Id="R87e80f961967465d" /><Relationship Type="http://schemas.openxmlformats.org/officeDocument/2006/relationships/tableStyles" Target="/ppt/tableStyles.xml" Id="R3114b2ef7ec442cb" /><Relationship Type="http://schemas.openxmlformats.org/officeDocument/2006/relationships/slide" Target="/ppt/slides/slide1.xml" Id="R9346e954fd6141b4" /><Relationship Type="http://schemas.openxmlformats.org/officeDocument/2006/relationships/slide" Target="/ppt/slides/slide2.xml" Id="R9d2fa77f97354c8a" /><Relationship Type="http://schemas.openxmlformats.org/officeDocument/2006/relationships/slide" Target="/ppt/slides/slide3.xml" Id="Rcce95fcda1534bd1" /><Relationship Type="http://schemas.openxmlformats.org/officeDocument/2006/relationships/slide" Target="/ppt/slides/slide4.xml" Id="R23547d9567754091" /><Relationship Type="http://schemas.openxmlformats.org/officeDocument/2006/relationships/slide" Target="/ppt/slides/slide5.xml" Id="R31fd92bd18764df7" /><Relationship Type="http://schemas.openxmlformats.org/officeDocument/2006/relationships/slide" Target="/ppt/slides/slide6.xml" Id="R2faf8875408147f1" /><Relationship Type="http://schemas.openxmlformats.org/officeDocument/2006/relationships/slide" Target="/ppt/slides/slide7.xml" Id="R6d40a13831aa4e25" /><Relationship Type="http://schemas.openxmlformats.org/officeDocument/2006/relationships/slide" Target="/ppt/slides/slide8.xml" Id="Ra61d9b7663034c95" /><Relationship Type="http://schemas.openxmlformats.org/officeDocument/2006/relationships/slide" Target="/ppt/slides/slide9.xml" Id="Rac8aca26e5a84f24" /><Relationship Type="http://schemas.openxmlformats.org/officeDocument/2006/relationships/slide" Target="/ppt/slides/slide10.xml" Id="R90fd69e3625d41c4" /><Relationship Type="http://schemas.openxmlformats.org/officeDocument/2006/relationships/slide" Target="/ppt/slides/slide11.xml" Id="R00105bffdad1495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40e1e34afb643a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2cf5af32ee9497f" /><Relationship Type="http://schemas.openxmlformats.org/officeDocument/2006/relationships/notesMaster" Target="/ppt/notesMasters/notesMaster1.xml" Id="R861c82a4d858491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ac1ed31a71343fd" /><Relationship Type="http://schemas.openxmlformats.org/officeDocument/2006/relationships/notesMaster" Target="/ppt/notesMasters/notesMaster1.xml" Id="Rff1415b2b08140a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5bd46dd22974b7c" /><Relationship Type="http://schemas.openxmlformats.org/officeDocument/2006/relationships/notesMaster" Target="/ppt/notesMasters/notesMaster1.xml" Id="Rf55a7af0ede947b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5214b30f7e843b5" /><Relationship Type="http://schemas.openxmlformats.org/officeDocument/2006/relationships/notesMaster" Target="/ppt/notesMasters/notesMaster1.xml" Id="Rd9f14eda3d3a4fd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114e5dd91ad4bbe" /><Relationship Type="http://schemas.openxmlformats.org/officeDocument/2006/relationships/notesMaster" Target="/ppt/notesMasters/notesMaster1.xml" Id="R06f72849d85b466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4d378c9a22c4d45" /><Relationship Type="http://schemas.openxmlformats.org/officeDocument/2006/relationships/notesMaster" Target="/ppt/notesMasters/notesMaster1.xml" Id="R0786f6b75d9a4d6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eba09718ab64c5b" /><Relationship Type="http://schemas.openxmlformats.org/officeDocument/2006/relationships/notesMaster" Target="/ppt/notesMasters/notesMaster1.xml" Id="R9f2f23f6abd34a4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1396359d1f64382" /><Relationship Type="http://schemas.openxmlformats.org/officeDocument/2006/relationships/notesMaster" Target="/ppt/notesMasters/notesMaster1.xml" Id="R7017591aaef54d1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59b02f4631c4e1f" /><Relationship Type="http://schemas.openxmlformats.org/officeDocument/2006/relationships/notesMaster" Target="/ppt/notesMasters/notesMaster1.xml" Id="R740ca77a676c4f7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f346a4bdad442ea" /><Relationship Type="http://schemas.openxmlformats.org/officeDocument/2006/relationships/notesMaster" Target="/ppt/notesMasters/notesMaster1.xml" Id="R328a410ffc724db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2b688f3ee5248d1" /><Relationship Type="http://schemas.openxmlformats.org/officeDocument/2006/relationships/notesMaster" Target="/ppt/notesMasters/notesMaster1.xml" Id="R7ba34a08f1134cb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eaf235e5ae41e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5e5771b22a04f2a" /><Relationship Type="http://schemas.openxmlformats.org/officeDocument/2006/relationships/slideLayout" Target="/ppt/slideLayouts/slideLayout1.xml" Id="Ra73a321fc4a84ee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73a321fc4a84ee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53c79561e8439d" /><Relationship Type="http://schemas.openxmlformats.org/officeDocument/2006/relationships/notesSlide" Target="/ppt/notesSlides/notesSlide1.xml" Id="R737418f338c14ea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d0cae8ed604868" /><Relationship Type="http://schemas.openxmlformats.org/officeDocument/2006/relationships/notesSlide" Target="/ppt/notesSlides/notesSlide2.xml" Id="R32b514633cde43c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22c7b180794b38" /><Relationship Type="http://schemas.openxmlformats.org/officeDocument/2006/relationships/notesSlide" Target="/ppt/notesSlides/notesSlide3.xml" Id="Rbe7415a13c73482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c672ec2d634644" /><Relationship Type="http://schemas.openxmlformats.org/officeDocument/2006/relationships/notesSlide" Target="/ppt/notesSlides/notesSlide4.xml" Id="R50b4513423144d3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4439a606ef4372" /><Relationship Type="http://schemas.openxmlformats.org/officeDocument/2006/relationships/notesSlide" Target="/ppt/notesSlides/notesSlide5.xml" Id="Rdc9111f92f22465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8a47d4f6684a7d" /><Relationship Type="http://schemas.openxmlformats.org/officeDocument/2006/relationships/image" Target="/ppt/media/image.png" Id="R072cbfdcb9f4413e" /><Relationship Type="http://schemas.openxmlformats.org/officeDocument/2006/relationships/notesSlide" Target="/ppt/notesSlides/notesSlide6.xml" Id="R436d723edece40c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d0416acd6144ef" /><Relationship Type="http://schemas.openxmlformats.org/officeDocument/2006/relationships/image" Target="/ppt/media/image2.png" Id="R55603092da3c4c84" /><Relationship Type="http://schemas.openxmlformats.org/officeDocument/2006/relationships/image" Target="/ppt/media/image3.png" Id="Rc14113933af24ec2" /><Relationship Type="http://schemas.openxmlformats.org/officeDocument/2006/relationships/notesSlide" Target="/ppt/notesSlides/notesSlide7.xml" Id="Redaf7d2f22934ee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a55b1e13d3475b" /><Relationship Type="http://schemas.openxmlformats.org/officeDocument/2006/relationships/image" Target="/ppt/media/image4.png" Id="Rdf567a4118dc4bab" /><Relationship Type="http://schemas.openxmlformats.org/officeDocument/2006/relationships/notesSlide" Target="/ppt/notesSlides/notesSlide8.xml" Id="Rc5b5f94b5f82487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024e74215c495d" /><Relationship Type="http://schemas.openxmlformats.org/officeDocument/2006/relationships/notesSlide" Target="/ppt/notesSlides/notesSlide9.xml" Id="R602c9ed17d174f9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736388578f496f" /><Relationship Type="http://schemas.openxmlformats.org/officeDocument/2006/relationships/image" Target="/ppt/media/image5.png" Id="R257b562560b84a54" /><Relationship Type="http://schemas.openxmlformats.org/officeDocument/2006/relationships/notesSlide" Target="/ppt/notesSlides/notesSlide10.xml" Id="R136c3ff201e1440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935f3567664a04" /><Relationship Type="http://schemas.openxmlformats.org/officeDocument/2006/relationships/notesSlide" Target="/ppt/notesSlides/notesSlide11.xml" Id="R763d86573f2a452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3A0A00E-34CC-48F7-BDD9-97AD8D767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280E77-8D11-4137-8D22-6AEE1184C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5A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9EF99E-DA06-401E-91C2-73D38685F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912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50F3EE-F9C6-4E70-8AEF-71B7596FD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INSY684 FINAL PRESENTATION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554DEB-1E92-48E0-8D2D-D0A321A80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6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CC9F7D5C-8AA6-4653-8862-311162D9B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201CEA9D-8EF8-49E2-83DE-AED25DA65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00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68A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8A8A"/>
                </a:solidFill>
                <a:latin typeface="Aptos"/>
                <a:ea typeface="Aptos"/>
                <a:cs typeface="Aptos"/>
              </a:rPr>
              <a:t>BIG PICTURE FIRST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D94AA6-BD89-4CB4-A3C6-601152E89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9906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37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We turned the Home Credit project into a production-ready ML system.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1DAE76-2A97-4D0F-9DCA-9096A1228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71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Home Credit Risk MLOps Team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BA2E0E-3369-4F44-898B-6C815D394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47950"/>
            <a:ext cx="666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github.com/QingyuanWang-Data/INSY684_Group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69B59A-AD62-4EA2-81A4-E6065CE30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266950"/>
            <a:ext cx="152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F8F4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C77D90-3CC1-48C8-9A20-1DCD7E8E5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333625"/>
            <a:ext cx="1333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F8F4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8F46"/>
                </a:solidFill>
                <a:latin typeface="Aptos"/>
                <a:ea typeface="Aptos"/>
                <a:cs typeface="Aptos"/>
              </a:rPr>
              <a:t>Presentation deck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986CC0-AF91-4C1D-815E-293E6A479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266950"/>
            <a:ext cx="1809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68A8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B4B751-262A-4453-A611-C8E04749E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333625"/>
            <a:ext cx="1619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68A8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8A8A"/>
                </a:solidFill>
                <a:latin typeface="Aptos"/>
                <a:ea typeface="Aptos"/>
                <a:cs typeface="Aptos"/>
              </a:rPr>
              <a:t>Team + GitHub IDs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5553F9-22D9-4475-8DAD-C2F20F653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724150"/>
            <a:ext cx="152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15A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1F93F8-C352-4192-91FB-F5F88D3AA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790825"/>
            <a:ext cx="1333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15AA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15AA6"/>
                </a:solidFill>
                <a:latin typeface="Aptos"/>
                <a:ea typeface="Aptos"/>
                <a:cs typeface="Aptos"/>
              </a:rPr>
              <a:t>Repository named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F0F060-ABDA-49E8-85B4-22B53921D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24150"/>
            <a:ext cx="1809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57A1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244E1F-7B2F-4876-BC04-03B992E94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790825"/>
            <a:ext cx="1619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C57A1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57A16"/>
                </a:solidFill>
                <a:latin typeface="Aptos"/>
                <a:ea typeface="Aptos"/>
                <a:cs typeface="Aptos"/>
              </a:rPr>
              <a:t>Evidence committed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94225EF-E50C-4C32-B3F4-634C65E8B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81450"/>
            <a:ext cx="2095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215AA6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215AA6"/>
                </a:solidFill>
                <a:latin typeface="Aptos Display"/>
                <a:ea typeface="Aptos Display"/>
                <a:cs typeface="Aptos Display"/>
              </a:rPr>
              <a:t>0.7619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27B604-C44F-455B-8757-99B116296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48200"/>
            <a:ext cx="209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fresh validation ROC-AUC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F1095D-2A7A-43D6-AE7E-DEA84F874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981450"/>
            <a:ext cx="2571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2F8F46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2F8F46"/>
                </a:solidFill>
                <a:latin typeface="Aptos Display"/>
                <a:ea typeface="Aptos Display"/>
                <a:cs typeface="Aptos Display"/>
              </a:rPr>
              <a:t>0.7679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879827-F7BA-47C8-BD23-6FAD6E1C2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648200"/>
            <a:ext cx="257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best tuned validation ROC-AUC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080D97-B83A-462E-BE40-6E95E8372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981450"/>
            <a:ext cx="2095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68A8A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168A8A"/>
                </a:solidFill>
                <a:latin typeface="Aptos Display"/>
                <a:ea typeface="Aptos Display"/>
                <a:cs typeface="Aptos Display"/>
              </a:rPr>
              <a:t>450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95E518-F09E-4C37-B1BB-FFF2D641D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648200"/>
            <a:ext cx="209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engineered features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1A1CF7C-9C6C-492B-A4F2-B7E68F0A5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3981450"/>
            <a:ext cx="2095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C57A16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C57A16"/>
                </a:solidFill>
                <a:latin typeface="Aptos Display"/>
                <a:ea typeface="Aptos Display"/>
                <a:cs typeface="Aptos Display"/>
              </a:rPr>
              <a:t>50,000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D1F0323-B0EE-4428-A744-5D5432379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4648200"/>
            <a:ext cx="209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sampled MLflow run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479360-A796-4604-8A24-8D820695A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81700"/>
            <a:ext cx="952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Course 5.9 expectation: document what we did, highlight the big picture first, and explain business objective fit.</a:t>
            </a:r>
          </a:p>
        </p:txBody>
      </p:sp>
    </p:spTree>
    <p:extLst>
      <p:ext uri="{BB962C8B-B14F-4D97-AF65-F5344CB8AC3E}">
        <p14:creationId xmlns:p14="http://schemas.microsoft.com/office/powerpoint/2010/main" val="109179044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5DB73C2-4473-43B9-83A1-676A6F61D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30B472-180A-491D-98D1-D42C5D5E4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5A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19C627-7E84-4CA7-B350-4E95CC777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912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939380-CDF5-430C-86B1-8F0F00282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INSY684 FINAL PRESENTATION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72C650-041A-4935-858C-764F2F328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6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F0FECDED-EC9E-495B-B6F4-9F18E8C27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8FCAB02F-1681-48CC-BE30-A6D0ABAA9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00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68A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8A8A"/>
                </a:solidFill>
                <a:latin typeface="Aptos"/>
                <a:ea typeface="Aptos"/>
                <a:cs typeface="Aptos"/>
              </a:rPr>
              <a:t>SUBMISSION REQUIREMENTS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7E24CD-9C19-4107-894C-59B09AB8B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9334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32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Everything the LMS asks for is visible before the technical deep dive.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D924A2-47C3-48D2-843D-9D17202CE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285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CE4E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27F122-2B15-474C-A0DA-763666635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43150"/>
            <a:ext cx="114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Deck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426C53-D19D-4ADE-AE3D-38EC51E22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47950"/>
            <a:ext cx="238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this PPTX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1D2EFA-9092-4069-863C-648E219FF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190750"/>
            <a:ext cx="285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CE4E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ADD107-FADC-4CDE-BD5F-E6209CBA2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43150"/>
            <a:ext cx="114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Team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CFDB9C-EC9C-466F-A42C-AA4538654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47950"/>
            <a:ext cx="238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Home Credit Risk MLOps Team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EC1D1E-A967-42F9-915A-C4E74542B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190750"/>
            <a:ext cx="285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CE4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3C5A7E-7DEC-4A49-B324-BDD9E2DF0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343150"/>
            <a:ext cx="114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GitHub IDs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CBBFBF-7FEA-4BD0-9555-506554A56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647950"/>
            <a:ext cx="238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4 members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91E122-3041-4474-AB18-6BF95F738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81375"/>
            <a:ext cx="285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CE4E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852DE5-04D0-45D2-8D78-D1AF85281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33775"/>
            <a:ext cx="114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Repository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5E16B4-142F-4139-B4F4-1AE198AC8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38575"/>
            <a:ext cx="238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INSY684_Group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89FCD4-4191-4C77-B1DB-53250607A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381375"/>
            <a:ext cx="285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CE4E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A73523-9D90-43D9-A95E-E69CB4EF1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533775"/>
            <a:ext cx="114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Dataset continuity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6F7C3BF-3832-4234-84AA-A0AA03274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838575"/>
            <a:ext cx="238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Home Credit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3CBA50-59C9-40B6-93C8-446E7A4F9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381375"/>
            <a:ext cx="285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CE4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FCB12DA-6128-4445-949D-87BEC8FAD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533775"/>
            <a:ext cx="114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GitHub work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30B508-E626-49D5-8EB5-60164182B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838575"/>
            <a:ext cx="238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branch code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D57B945-E4AC-44E8-8593-BF5188A4A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57750"/>
            <a:ext cx="7239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68A8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4EF8603-FAF7-4088-9879-0813B5F40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924425"/>
            <a:ext cx="7048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68A8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8A8A"/>
                </a:solidFill>
                <a:latin typeface="Aptos"/>
                <a:ea typeface="Aptos"/>
                <a:cs typeface="Aptos"/>
              </a:rPr>
              <a:t>QingyuanWang-Data | Hankpapa | xuechen-17 | yasmminee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924421C-3F78-4502-8C8C-516CE8EB1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53050"/>
            <a:ext cx="8096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One teammate submits; repository evidence is already pushed and synchronized.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0F93B36-C2E9-496C-9869-3F0452B1F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81700"/>
            <a:ext cx="952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Evidence: docs/SUBMISSION_INFO.md and GitHub branch code.</a:t>
            </a:r>
          </a:p>
        </p:txBody>
      </p:sp>
    </p:spTree>
    <p:extLst>
      <p:ext uri="{BB962C8B-B14F-4D97-AF65-F5344CB8AC3E}">
        <p14:creationId xmlns:p14="http://schemas.microsoft.com/office/powerpoint/2010/main" val="127770323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544F2E5-A46A-4BF2-8443-3B1B6F210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18E0D1-CF85-40C1-BEBD-759992CD3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5A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4C363E-A735-4D76-9F1F-D407CDD41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912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865CE8-BE24-44CF-9F01-B912E4863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INSY684 FINAL PRESENTATION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7EB7FE-992F-438D-9EDF-DE869C479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6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7C507892-8030-484D-85D3-111D366A9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C38DA1B5-5132-4D9D-8419-6EAEBDB30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00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68A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8A8A"/>
                </a:solidFill>
                <a:latin typeface="Aptos"/>
                <a:ea typeface="Aptos"/>
                <a:cs typeface="Aptos"/>
              </a:rPr>
              <a:t>5.9.1 CONTEXT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CAA681-C7ED-4008-8883-3CE96683F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9429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32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The business problem is ranking default risk before a credit decision is made.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08BFC9-3EAD-4730-9D01-59AF034B7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38375"/>
            <a:ext cx="2476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BF5B49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BF5B49"/>
                </a:solidFill>
                <a:latin typeface="Aptos Display"/>
                <a:ea typeface="Aptos Display"/>
                <a:cs typeface="Aptos Display"/>
              </a:rPr>
              <a:t>8.0%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71EA8F-A769-445D-A085-6E9BD58F0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05125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default-positive rate in sampled run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B44828-F70E-47F8-B987-E07708EB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238375"/>
            <a:ext cx="2571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215AA6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215AA6"/>
                </a:solidFill>
                <a:latin typeface="Aptos Display"/>
                <a:ea typeface="Aptos Display"/>
                <a:cs typeface="Aptos Display"/>
              </a:rPr>
              <a:t>50,000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343728-81AB-41DD-A11B-20E5406F4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905125"/>
            <a:ext cx="257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applications in fresh experiment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F37367-DBFF-48C8-A748-C541AB910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238375"/>
            <a:ext cx="2857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68A8A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168A8A"/>
                </a:solidFill>
                <a:latin typeface="Aptos Display"/>
                <a:ea typeface="Aptos Display"/>
                <a:cs typeface="Aptos Display"/>
              </a:rPr>
              <a:t>450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180EEA-7B3E-4E0C-A19D-692B6996D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905125"/>
            <a:ext cx="285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signals after multi-table aggregation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FD1747-9897-46C9-8FFB-A851EF2F1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38625"/>
            <a:ext cx="9810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CE4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02FDDE-74CD-4F7B-A2A2-298AF4AD8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5529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F4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71197F-FCB4-4DDC-86DF-D58A8EF64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457700"/>
            <a:ext cx="8648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Objective: prioritize high-risk applications so policy teams can manage default cost and approval tradeoffs.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B0EAED-7D5B-4031-BEF2-C9AA5BD52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9911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7A1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173256-EA36-41B8-ADAA-21C80DB9A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895850"/>
            <a:ext cx="8648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Stakeholders: risk managers, product managers, analysts, and ML engineers need one explainable serving workflow.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81759B-0265-41F3-B5D7-3C50EC76A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81700"/>
            <a:ext cx="952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Evidence: docs/BUSINESS_CONTEXT.md, docs/DATA_REPORT.md, artifacts/training_report.json.</a:t>
            </a:r>
          </a:p>
        </p:txBody>
      </p:sp>
    </p:spTree>
    <p:extLst>
      <p:ext uri="{BB962C8B-B14F-4D97-AF65-F5344CB8AC3E}">
        <p14:creationId xmlns:p14="http://schemas.microsoft.com/office/powerpoint/2010/main" val="199699761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93A8A56-E493-4E39-94A1-22D972E4C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012E64-8081-4785-9B9C-9ED63497D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5A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5AB028-47DC-4C39-A45A-5A81CBB0D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912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F5A5AA-D863-40AA-BB55-83C6AAB40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INSY684 FINAL PRESENTATION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1945B7-1DDF-451D-AC5F-9CECFBF18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6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1C973D87-4AB1-46A5-9D52-5543C9FE2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2EECA029-1EB7-478F-A99A-6CAE6FA1B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00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68A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8A8A"/>
                </a:solidFill>
                <a:latin typeface="Aptos"/>
                <a:ea typeface="Aptos"/>
                <a:cs typeface="Aptos"/>
              </a:rPr>
              <a:t>5.9.2 HYPOTHESIS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257894-35F9-4E22-8000-EC021D077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001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A supervised ranking model should beat random approval decisions and support threshold policy.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20D332-E57E-4F07-AF7A-4FBE46A68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66950"/>
            <a:ext cx="44767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CE4E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84E419-833A-44A3-9E31-BD47CAED8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66950"/>
            <a:ext cx="44767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CE4E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138F56-5CDF-430F-9C77-C28C53F07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19375"/>
            <a:ext cx="3143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BF5B49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BF5B49"/>
                </a:solidFill>
                <a:latin typeface="Aptos"/>
                <a:ea typeface="Aptos"/>
                <a:cs typeface="Aptos"/>
              </a:rPr>
              <a:t>Null hypothesis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0DD3B3-2AF2-4FD0-8E83-C87906E7E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43250"/>
            <a:ext cx="3429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The model cannot rank default risk better than random assignment.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12750C-C3F1-428B-B396-1EF013EBD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981450"/>
            <a:ext cx="1809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F5B4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C82DC0-445B-4783-A70B-1CBB69EEE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48125"/>
            <a:ext cx="1619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F5B49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BF5B49"/>
                </a:solidFill>
                <a:latin typeface="Aptos"/>
                <a:ea typeface="Aptos"/>
                <a:cs typeface="Aptos"/>
              </a:rPr>
              <a:t>ROC-AUC &lt;= 0.50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50786F-C71C-43F4-A30F-66CDE2FA0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619375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F8F46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2F8F46"/>
                </a:solidFill>
                <a:latin typeface="Aptos"/>
                <a:ea typeface="Aptos"/>
                <a:cs typeface="Aptos"/>
              </a:rPr>
              <a:t>Working hypothesis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AA0746-E8C7-4835-8073-6259CD48B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143250"/>
            <a:ext cx="37147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Aggregated credit history improves risk ordering and supports lower-cost threshold decisions.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F11CE3-603E-4823-A6B1-A0823EDD9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957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F8F4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F34672-3A20-4F06-87A8-4CCC33D9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162425"/>
            <a:ext cx="152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F8F4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8F46"/>
                </a:solidFill>
                <a:latin typeface="Aptos"/>
                <a:ea typeface="Aptos"/>
                <a:cs typeface="Aptos"/>
              </a:rPr>
              <a:t>ROC-AUC &gt; 0.50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BE9E73-56C3-47A4-A490-6999BD6AC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81700"/>
            <a:ext cx="952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Testing strategy: stratified splits, validation AUC, PR-AUC, confusion matrix, and threshold cost curves.</a:t>
            </a:r>
          </a:p>
        </p:txBody>
      </p:sp>
    </p:spTree>
    <p:extLst>
      <p:ext uri="{BB962C8B-B14F-4D97-AF65-F5344CB8AC3E}">
        <p14:creationId xmlns:p14="http://schemas.microsoft.com/office/powerpoint/2010/main" val="126464355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BBA93DE-0502-418E-BE4E-08AC76709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B2E498-2394-4BF3-8B80-6E0E79AF8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5A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E3D2A7-04A5-41BC-9A5E-5434D1370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912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60C238-C411-4373-B48F-6A063ED2A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INSY684 FINAL PRESENTATION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6350FD-DC67-4676-ADE8-B007C500D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6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A4D56902-A5D3-42D5-824D-0477F84B9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B9441538-33F9-4472-80EC-17F656121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00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68A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8A8A"/>
                </a:solidFill>
                <a:latin typeface="Aptos"/>
                <a:ea typeface="Aptos"/>
                <a:cs typeface="Aptos"/>
              </a:rPr>
              <a:t>5.9.3 DATA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F75995-C562-4804-BB72-C0F44A5F5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9334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32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Eight raw Home Credit files are compressed into applicant-level risk signals.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A07B00-640A-4EAD-AE60-31DC27159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28875"/>
            <a:ext cx="2714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CE4E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27AA32-CA65-49E6-AE38-FCEE2DF57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714625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215AA6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215AA6"/>
                </a:solidFill>
                <a:latin typeface="Aptos"/>
                <a:ea typeface="Aptos"/>
                <a:cs typeface="Aptos"/>
              </a:rPr>
              <a:t>Raw tables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0FE6E4-BAD1-4F0B-863E-F8796AD1B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62300"/>
            <a:ext cx="2190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application, bureau, previous, POS, installments, cards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D18BE1-C933-4E2F-9DD5-72EF31FEC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143250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7A1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F9D3FE-B20F-4758-A97F-67659045F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428875"/>
            <a:ext cx="2714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CE4E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A94C52-847C-42B7-A365-8AEA8F77F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714625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68A8A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68A8A"/>
                </a:solidFill>
                <a:latin typeface="Aptos"/>
                <a:ea typeface="Aptos"/>
                <a:cs typeface="Aptos"/>
              </a:rPr>
              <a:t>Aggregates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29180B-8F23-4018-A69B-6DE7ADC28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162300"/>
            <a:ext cx="2190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mean, max, min, sum, std, counts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1EA06A-B13C-4024-83A9-7D7D04213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143250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7A1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5B8526-0A08-438C-B63E-829369A36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428875"/>
            <a:ext cx="2714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CE4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9A64C9-1AF3-4621-989A-CC68F8E95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714625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2F8F46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2F8F46"/>
                </a:solidFill>
                <a:latin typeface="Aptos"/>
                <a:ea typeface="Aptos"/>
                <a:cs typeface="Aptos"/>
              </a:rPr>
              <a:t>Training frame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6BBD3D-9F50-4384-8BEB-3E4F77B00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62300"/>
            <a:ext cx="2190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one applicant row with target and features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28433D-C422-4366-B2E8-E3D8A057B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62500"/>
            <a:ext cx="2095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68A8A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168A8A"/>
                </a:solidFill>
                <a:latin typeface="Aptos Display"/>
                <a:ea typeface="Aptos Display"/>
                <a:cs typeface="Aptos Display"/>
              </a:rPr>
              <a:t>450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8A7217-1663-46E0-8B16-5DBCC34CC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29250"/>
            <a:ext cx="209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final feature count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2EF3BAA-27BC-468E-BD0D-B82F2C3F8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762500"/>
            <a:ext cx="2952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C57A16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C57A16"/>
                </a:solidFill>
                <a:latin typeface="Aptos Display"/>
                <a:ea typeface="Aptos Display"/>
                <a:cs typeface="Aptos Display"/>
              </a:rPr>
              <a:t>35k / 10k / 5k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7EEFD5-C046-43D2-B304-0501267AD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429250"/>
            <a:ext cx="2952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train / validation / test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DF40690-373C-46EF-809B-864B919E4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810125"/>
            <a:ext cx="3048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ID columns are normalized before joins, which fixed the pandas merge error and strengthens reproducibility.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32BC4B7-B0E5-4609-83C5-E72A18D1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81700"/>
            <a:ext cx="952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Evidence: src/homecredit_service/features.py and artifacts/training_report.json.</a:t>
            </a:r>
          </a:p>
        </p:txBody>
      </p:sp>
    </p:spTree>
    <p:extLst>
      <p:ext uri="{BB962C8B-B14F-4D97-AF65-F5344CB8AC3E}">
        <p14:creationId xmlns:p14="http://schemas.microsoft.com/office/powerpoint/2010/main" val="19424471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4D66917-9E9F-4B2A-93A8-812747DCE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995E5B-A82A-4146-96AC-AB3461B17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5A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72DDE2-4641-4805-BE99-7DE296CFE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912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C0114B-24CB-418D-A9B6-CB23871E4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INSY684 FINAL PRESENTATION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B55C39-E539-4BCB-9061-4F621A873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6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0F9AB99F-F771-4057-9A5B-59A4D08E2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DBE536CE-E2DB-4F49-BF9A-8725646BE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00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68A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8A8A"/>
                </a:solidFill>
                <a:latin typeface="Aptos"/>
                <a:ea typeface="Aptos"/>
                <a:cs typeface="Aptos"/>
              </a:rPr>
              <a:t>5.9.4 MODEL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265600-F701-45AC-8F51-FBA3DD30F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9334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32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LightGBM gives strong ranking performance; Optuna shows tuning work was real.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2cbfdcb9f4413e"/>
          <a:stretch xmlns:a="http://schemas.openxmlformats.org/drawingml/2006/main"/>
        </p:blipFill>
        <p:spPr>
          <a:xfrm xmlns:a="http://schemas.openxmlformats.org/drawingml/2006/main">
            <a:off x="590550" y="2452688"/>
            <a:ext cx="5143500" cy="25717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393120-E578-489A-BF57-49789D32E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238375"/>
            <a:ext cx="2667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215AA6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215AA6"/>
                </a:solidFill>
                <a:latin typeface="Aptos Display"/>
                <a:ea typeface="Aptos Display"/>
                <a:cs typeface="Aptos Display"/>
              </a:rPr>
              <a:t>0.7619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00C8DA-7280-4312-84EF-1415CA00F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905125"/>
            <a:ext cx="2667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fresh validation ROC-AUC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2C9E1A-0EED-4B91-847C-2CA60AEAF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238375"/>
            <a:ext cx="2476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2F8F46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2F8F46"/>
                </a:solidFill>
                <a:latin typeface="Aptos Display"/>
                <a:ea typeface="Aptos Display"/>
                <a:cs typeface="Aptos Display"/>
              </a:rPr>
              <a:t>0.7679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3AE244-65EC-40B4-8250-F1326B9A6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905125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best Optuna validation ROC-AUC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0CBD53-B4F2-4A3D-ADC3-083936697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95750"/>
            <a:ext cx="4095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Model type: supervised binary classification with class imbalance handling, threshold optimization, and MLflow run tracking.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A1EB17-E768-465B-ACF1-7FF8BB1E8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81700"/>
            <a:ext cx="952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Evidence: artifacts/plots/train_validation_learning_curve.png, artifacts/tuning_report.json.</a:t>
            </a:r>
          </a:p>
        </p:txBody>
      </p:sp>
    </p:spTree>
    <p:extLst>
      <p:ext uri="{BB962C8B-B14F-4D97-AF65-F5344CB8AC3E}">
        <p14:creationId xmlns:p14="http://schemas.microsoft.com/office/powerpoint/2010/main" val="208668914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0F795DC-3034-4907-9CA0-9EF2A718A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71A10B-B1B9-4DE1-A4F8-D2694C2EA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5A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F64A71-9897-48A6-B98C-5504A6F48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912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7ED54D-59D1-41E7-A696-7138329AD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INSY684 FINAL PRESENTATION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C98D5C-E537-4923-AF4C-3E50FEABD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6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A18FD341-6109-4C20-9311-595DF2060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5A184271-1AA9-42B9-8DCD-5E7811523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00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68A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8A8A"/>
                </a:solidFill>
                <a:latin typeface="Aptos"/>
                <a:ea typeface="Aptos"/>
                <a:cs typeface="Aptos"/>
              </a:rPr>
              <a:t>5.9.5 RESULTS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608B8C-FDD3-4A35-96D5-437ADD6F6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9525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32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The model beats random ranking and exposes the cost of different thresholds.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603092da3c4c84"/>
          <a:stretch xmlns:a="http://schemas.openxmlformats.org/drawingml/2006/main"/>
        </p:blipFill>
        <p:spPr>
          <a:xfrm xmlns:a="http://schemas.openxmlformats.org/drawingml/2006/main">
            <a:off x="714375" y="2190750"/>
            <a:ext cx="3429000" cy="2857500"/>
          </a:xfrm>
          <a:prstGeom xmlns:a="http://schemas.openxmlformats.org/drawingml/2006/main" prst="rect">
            <a:avLst/>
          </a:prstGeom>
        </p:spPr>
      </p:pic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4113933af24ec2"/>
          <a:stretch xmlns:a="http://schemas.openxmlformats.org/drawingml/2006/main"/>
        </p:blipFill>
        <p:spPr>
          <a:xfrm xmlns:a="http://schemas.openxmlformats.org/drawingml/2006/main">
            <a:off x="4857750" y="2458641"/>
            <a:ext cx="3714750" cy="2321719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5E9F3C-538A-4A13-B6F1-A9EBBB8C6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476500"/>
            <a:ext cx="2095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C57A16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C57A16"/>
                </a:solidFill>
                <a:latin typeface="Aptos Display"/>
                <a:ea typeface="Aptos Display"/>
                <a:cs typeface="Aptos Display"/>
              </a:rPr>
              <a:t>0.549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781AFA-CD14-41A2-A48A-34D941785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143250"/>
            <a:ext cx="209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selected threshold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1B0C0C-34F3-4007-A37B-A388E981E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00500"/>
            <a:ext cx="2095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68A8A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168A8A"/>
                </a:solidFill>
                <a:latin typeface="Aptos Display"/>
                <a:ea typeface="Aptos Display"/>
                <a:cs typeface="Aptos Display"/>
              </a:rPr>
              <a:t>0.2545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CE7F87-CB34-4E9A-8074-61FDB9C6B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667250"/>
            <a:ext cx="209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validation PR-AUC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DB6F02-65A4-4C47-8034-14DD81443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29250"/>
            <a:ext cx="9334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The result is not just a score; it becomes a policy lever for approval, decline, and review decisions.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8FCD15-5956-48DE-827F-78F38A191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81700"/>
            <a:ext cx="952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Evidence: validation_confusion_matrix.png, cost_sensitivity_threshold_curve.png.</a:t>
            </a:r>
          </a:p>
        </p:txBody>
      </p:sp>
    </p:spTree>
    <p:extLst>
      <p:ext uri="{BB962C8B-B14F-4D97-AF65-F5344CB8AC3E}">
        <p14:creationId xmlns:p14="http://schemas.microsoft.com/office/powerpoint/2010/main" val="188067867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815FF21-9EAA-41AB-9E7B-10C7B1F06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B0FFBB-E179-4570-BD6B-FF4BBB51E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5A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FCB202-DC56-44BD-AD64-B4E5CADF8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912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48C96D-71CA-43A9-9E20-A805661CF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INSY684 FINAL PRESENTATION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1AC465-A7E7-438A-8355-B67728CBF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6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71F8408A-D16E-4A0B-BA3C-1DDD960C0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A12D63C8-9A94-4BFD-A151-053F95061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00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68A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8A8A"/>
                </a:solidFill>
                <a:latin typeface="Aptos"/>
                <a:ea typeface="Aptos"/>
                <a:cs typeface="Aptos"/>
              </a:rPr>
              <a:t>5.9.6 EXPLAINABILITY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009555-45A6-4A32-832E-8F9362A78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9334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32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Feature importance turns the model into a reviewable risk-ranking tool.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567a4118dc4bab"/>
          <a:stretch xmlns:a="http://schemas.openxmlformats.org/drawingml/2006/main"/>
        </p:blipFill>
        <p:spPr>
          <a:xfrm xmlns:a="http://schemas.openxmlformats.org/drawingml/2006/main">
            <a:off x="666750" y="2094940"/>
            <a:ext cx="5905500" cy="3334871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489ADE-AE9C-48B9-85AC-FB6B3F866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8600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8A8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68A8A"/>
                </a:solidFill>
                <a:latin typeface="Aptos"/>
                <a:ea typeface="Aptos"/>
                <a:cs typeface="Aptos"/>
              </a:rPr>
              <a:t>What to say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4834D2-AA1F-4D4A-8781-F9065BF6C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781300"/>
            <a:ext cx="34290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The strongest signals come from engineered financial and historical-credit features. We use global importance for model review, not as a causal claim.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5F1F9C-676E-40CC-BE7D-621037A1F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286250"/>
            <a:ext cx="3476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Governance use: review surprising drivers, monitor drift in top features, and document limits in the model card.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EBE767-1646-47C1-8D3E-AEE31968B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81700"/>
            <a:ext cx="952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Evidence: artifacts/plots/top10_feature_importance.png and docs/EXPLAINABILITY.md.</a:t>
            </a:r>
          </a:p>
        </p:txBody>
      </p:sp>
    </p:spTree>
    <p:extLst>
      <p:ext uri="{BB962C8B-B14F-4D97-AF65-F5344CB8AC3E}">
        <p14:creationId xmlns:p14="http://schemas.microsoft.com/office/powerpoint/2010/main" val="153558238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A0BDC2B-F04D-4811-9AA8-BB1891A4C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75CFF8-EDC9-4B78-AB47-045BDF69B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5A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2C6F7A-7937-475E-85C8-BFB5F0290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912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AC4537-DE92-4D52-AD04-B644FA84E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INSY684 FINAL PRESENTATION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53D426-6189-4030-A99A-B18FC259E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6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22610B6A-9C04-4C1E-AA14-168AFEFC2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9EC32733-BA6E-47C2-B111-88FBD6341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00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68A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8A8A"/>
                </a:solidFill>
                <a:latin typeface="Aptos"/>
                <a:ea typeface="Aptos"/>
                <a:cs typeface="Aptos"/>
              </a:rPr>
              <a:t>5.9.7 THREATS TO VALIDITY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8966B5-5567-4BEB-AE42-56665DDCA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9334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32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The main risks are data leakage, historical bias, and production drift.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A27CC7-11FF-4174-9F7F-671C60C4A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428875"/>
            <a:ext cx="27622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CE4E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51E4BC-D9DD-4C69-9BFC-8707F31A3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2781300"/>
            <a:ext cx="2095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F5B4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BF5B49"/>
                </a:solidFill>
                <a:latin typeface="Aptos"/>
                <a:ea typeface="Aptos"/>
                <a:cs typeface="Aptos"/>
              </a:rPr>
              <a:t>Leakage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5E0919-6B92-487B-92FD-707AF4850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3333750"/>
            <a:ext cx="2190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Historical tables may contain timing patterns that need careful event-time cutoffs.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48B4C9-6043-4842-A146-E5D158301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428875"/>
            <a:ext cx="27622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CE4E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0B9E9C-A96D-4BB7-97C7-5BE4AAE14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781300"/>
            <a:ext cx="2095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C57A16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C57A16"/>
                </a:solidFill>
                <a:latin typeface="Aptos"/>
                <a:ea typeface="Aptos"/>
                <a:cs typeface="Aptos"/>
              </a:rPr>
              <a:t>Bias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B69BF2-528D-40CE-9F8F-C94DCF439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333750"/>
            <a:ext cx="2190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Credit outcomes reflect previous lending policy, not a neutral ground truth.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B9FB26-ED90-43F4-A726-8E24231B8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428875"/>
            <a:ext cx="27622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CE4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7E8EF4-58A7-42A9-933E-706FBE7DD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2781300"/>
            <a:ext cx="2095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6E5AA8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6E5AA8"/>
                </a:solidFill>
                <a:latin typeface="Aptos"/>
                <a:ea typeface="Aptos"/>
                <a:cs typeface="Aptos"/>
              </a:rPr>
              <a:t>Drift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21632D-2AC9-4B9D-A50E-7C85133E2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333750"/>
            <a:ext cx="2190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Applicant mix and macro conditions can change after launch.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BEFA0F-C8BE-4E6C-8BA0-DF846904E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0006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F4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995164-0A49-4AEF-9F9C-F7E8A4A02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" y="4905375"/>
            <a:ext cx="8743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Mitigation: model card, fairness report, monitoring report, PSI drift checks, and future retraining workflow.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2D22CB-B2F6-4405-B0CB-D7A89B234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81700"/>
            <a:ext cx="952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Evidence: docs/LIMITATIONS.md, docs/FAIRNESS.md, docs/MONITORING.md.</a:t>
            </a:r>
          </a:p>
        </p:txBody>
      </p:sp>
    </p:spTree>
    <p:extLst>
      <p:ext uri="{BB962C8B-B14F-4D97-AF65-F5344CB8AC3E}">
        <p14:creationId xmlns:p14="http://schemas.microsoft.com/office/powerpoint/2010/main" val="98956163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FBBF547-C422-4F28-9CAD-369454C20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6131FA-6814-4F16-9141-C798FCE32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5A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C79ED9-04F6-4CA2-B05C-82BB3BBD5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912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7BAD4F-6995-4A3B-8CFD-1277F62E3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INSY684 FINAL PRESENTATION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00693D-5289-495E-A107-68ADA2F8B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6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D2CB0515-1DE9-4185-9A54-19F82AEC3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965FBDA7-A2EB-4BE3-9E7B-A28006593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00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68A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8A8A"/>
                </a:solidFill>
                <a:latin typeface="Aptos"/>
                <a:ea typeface="Aptos"/>
                <a:cs typeface="Aptos"/>
              </a:rPr>
              <a:t>5.10 LAUNCHING, MONITORING, MAINTENANCE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D25EB7-23BB-4B90-83D8-D2D3F018B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9334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32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The serving contract is ready; monitoring tells us when to intervene.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7b562560b84a54"/>
          <a:stretch xmlns:a="http://schemas.openxmlformats.org/drawingml/2006/main"/>
        </p:blipFill>
        <p:spPr>
          <a:xfrm xmlns:a="http://schemas.openxmlformats.org/drawingml/2006/main">
            <a:off x="1052513" y="2076450"/>
            <a:ext cx="3286125" cy="3286125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E2F09D-2AFE-4F23-872A-2FE45443C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333625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15AA6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215AA6"/>
                </a:solidFill>
                <a:latin typeface="Aptos"/>
                <a:ea typeface="Aptos"/>
                <a:cs typeface="Aptos"/>
              </a:rPr>
              <a:t>Launch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9F52D6-D77C-4AB5-95E2-DC27E7DE4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771775"/>
            <a:ext cx="23336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Docker + FastAPI + /ready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A975A8-00C3-456F-8B9A-65713BD7C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333625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8A8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68A8A"/>
                </a:solidFill>
                <a:latin typeface="Aptos"/>
                <a:ea typeface="Aptos"/>
                <a:cs typeface="Aptos"/>
              </a:rPr>
              <a:t>Monitor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E18C3E-C645-4D75-8526-3BBD5778E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771775"/>
            <a:ext cx="23336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AUC, PR-AUC, PSI, feature drift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648B46-B838-429A-ABD2-5A8A74413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3952875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F8F46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2F8F46"/>
                </a:solidFill>
                <a:latin typeface="Aptos"/>
                <a:ea typeface="Aptos"/>
                <a:cs typeface="Aptos"/>
              </a:rPr>
              <a:t>Maintain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28C4CA-1DDA-4C1E-8815-F98496ABC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391025"/>
            <a:ext cx="23336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retrain on fresh data; review fairness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2D3B3C-A1B8-4A4B-90A8-431548DC9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952875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C57A16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C57A16"/>
                </a:solidFill>
                <a:latin typeface="Aptos"/>
                <a:ea typeface="Aptos"/>
                <a:cs typeface="Aptos"/>
              </a:rPr>
              <a:t>Govern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F9325A-99B6-4B5D-814D-F9A9A65BA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391025"/>
            <a:ext cx="23336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model card and threshold policy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AD2616-580F-4700-953C-317FA312F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81700"/>
            <a:ext cx="952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Evidence: docs/DEPLOYMENT.md and docs/MONITORING.md.</a:t>
            </a:r>
          </a:p>
        </p:txBody>
      </p:sp>
    </p:spTree>
    <p:extLst>
      <p:ext uri="{BB962C8B-B14F-4D97-AF65-F5344CB8AC3E}">
        <p14:creationId xmlns:p14="http://schemas.microsoft.com/office/powerpoint/2010/main" val="61993921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0D3E800-9650-4790-ADA3-7B34EBE62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DB3AD3-6569-4846-B170-DDC0138F7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5A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2EF4B7-4087-4D94-8F36-D0500AD25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912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45A94D-E762-4F02-8AD6-C104FADC5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INSY684 FINAL PRESENTATION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992FD3-8D14-4FFC-9BA9-2D7CDD704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6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E97B64EB-DB81-4B53-9641-D187C82C5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DD83E8EA-2648-4214-A9FC-6D355A532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00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68A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8A8A"/>
                </a:solidFill>
                <a:latin typeface="Aptos"/>
                <a:ea typeface="Aptos"/>
                <a:cs typeface="Aptos"/>
              </a:rPr>
              <a:t>5.9.8-5.9.9 CONCLUSIONS AND LESSONS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D316DC-85DF-4B2E-97F4-9FF80CA15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971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32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The project is valuable because it connects model performance to operating discipline.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E35087-2A22-4BBF-9754-1881B878E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76500"/>
            <a:ext cx="2095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215AA6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215AA6"/>
                </a:solidFill>
                <a:latin typeface="Aptos Display"/>
                <a:ea typeface="Aptos Display"/>
                <a:cs typeface="Aptos Display"/>
              </a:rPr>
              <a:t>Built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96A532-5707-46A4-B278-7E0560E56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43250"/>
            <a:ext cx="209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package, tests, CI, Docker, API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AC8202-5E20-4A5D-813B-E36095E85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476500"/>
            <a:ext cx="2571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2F8F46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2F8F46"/>
                </a:solidFill>
                <a:latin typeface="Aptos Display"/>
                <a:ea typeface="Aptos Display"/>
                <a:cs typeface="Aptos Display"/>
              </a:rPr>
              <a:t>Tracked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A6785B-32FB-4E05-AA6C-1EE6C1426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143250"/>
            <a:ext cx="257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MLflow and Optuna evidence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FB0BBF-F9AF-42AE-80B7-BAD376094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476500"/>
            <a:ext cx="2476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C57A16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C57A16"/>
                </a:solidFill>
                <a:latin typeface="Aptos Display"/>
                <a:ea typeface="Aptos Display"/>
                <a:cs typeface="Aptos Display"/>
              </a:rPr>
              <a:t>Governed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B940EE-68C8-4C40-8F4C-41E783A4B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43250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fairness, drift, model card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24EA91-D5FB-4C92-A3B4-4D6BDFFF8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572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F4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C8AD63-4BE1-4062-887A-2D79FC1A4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476750"/>
            <a:ext cx="9124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Recommendation: present 0.7619 as the fresh validation run and 0.7679 as tuning evidence.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44A3BD-11A2-41B3-B8A8-77FA83DCF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67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9816A4-02E5-43D7-A1CB-F715A68AC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972050"/>
            <a:ext cx="9124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Lesson learned: production ML depends as much on reproducibility, monitoring, and clear limits as on one metric.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C02F5F-8584-4ED2-868E-D44BB662B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19750"/>
            <a:ext cx="809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Next step for group deck: add formal course title slide and speaker assignments.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95A939-B71E-4989-A690-730BE3211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81700"/>
            <a:ext cx="952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Evidence package committed to GitHub branch code.</a:t>
            </a:r>
          </a:p>
        </p:txBody>
      </p:sp>
    </p:spTree>
    <p:extLst>
      <p:ext uri="{BB962C8B-B14F-4D97-AF65-F5344CB8AC3E}">
        <p14:creationId xmlns:p14="http://schemas.microsoft.com/office/powerpoint/2010/main" val="213926342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2026-06-14T17:34:55.6380000Z</dcterms:created>
  <dcterms:modified xsi:type="dcterms:W3CDTF">2026-06-14T17:34:55.6390000Z</dcterms:modified>
</coreProperties>
</file>
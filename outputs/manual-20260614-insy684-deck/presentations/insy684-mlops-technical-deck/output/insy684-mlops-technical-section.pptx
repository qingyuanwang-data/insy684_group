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58a49b07934d0f" /><Relationship Type="http://schemas.openxmlformats.org/officeDocument/2006/relationships/extended-properties" Target="/docProps/app.xml" Id="Rf1bb43b142d44f54" /><Relationship Type="http://schemas.openxmlformats.org/officeDocument/2006/relationships/officeDocument" Target="/ppt/presentation.xml" Id="R4fbe465c25f04a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d65af486114ce4"/>
  </p:sldMasterIdLst>
  <p:notesMasterIdLst>
    <p:notesMasterId xmlns:r="http://schemas.openxmlformats.org/officeDocument/2006/relationships" r:id="R77d1674651704de7"/>
  </p:notesMasterIdLst>
  <p:sldIdLst>
    <p:sldId xmlns:r="http://schemas.openxmlformats.org/officeDocument/2006/relationships" id="256" r:id="R7bc7c9cc1ba04c39"/>
    <p:sldId xmlns:r="http://schemas.openxmlformats.org/officeDocument/2006/relationships" id="257" r:id="Rc92fb226d6b9454c"/>
    <p:sldId xmlns:r="http://schemas.openxmlformats.org/officeDocument/2006/relationships" id="258" r:id="R91aa0a8f0ed846c3"/>
    <p:sldId xmlns:r="http://schemas.openxmlformats.org/officeDocument/2006/relationships" id="259" r:id="Rc8a5ba3f1433417e"/>
    <p:sldId xmlns:r="http://schemas.openxmlformats.org/officeDocument/2006/relationships" id="260" r:id="Rfcd49a1374f744cd"/>
    <p:sldId xmlns:r="http://schemas.openxmlformats.org/officeDocument/2006/relationships" id="261" r:id="Re6ee17bef2c9405c"/>
    <p:sldId xmlns:r="http://schemas.openxmlformats.org/officeDocument/2006/relationships" id="262" r:id="R0dda43dbd15e4de8"/>
    <p:sldId xmlns:r="http://schemas.openxmlformats.org/officeDocument/2006/relationships" id="263" r:id="R6c96a1b434bd4fee"/>
    <p:sldId xmlns:r="http://schemas.openxmlformats.org/officeDocument/2006/relationships" id="264" r:id="Ree9b056ddd424183"/>
    <p:sldId xmlns:r="http://schemas.openxmlformats.org/officeDocument/2006/relationships" id="265" r:id="R1f12aaaf1d0244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e2d5d76734dcc" /><Relationship Type="http://schemas.openxmlformats.org/officeDocument/2006/relationships/slideMaster" Target="/ppt/slideMasters/slideMaster1.xml" Id="R02d65af486114ce4" /><Relationship Type="http://schemas.openxmlformats.org/officeDocument/2006/relationships/notesMaster" Target="/ppt/notesMasters/notesMaster1.xml" Id="R77d1674651704de7" /><Relationship Type="http://schemas.openxmlformats.org/officeDocument/2006/relationships/presProps" Target="/ppt/presProps.xml" Id="Rb4f1b2fadc2343b6" /><Relationship Type="http://schemas.openxmlformats.org/officeDocument/2006/relationships/viewProps" Target="/ppt/viewProps.xml" Id="R8ff63f668585411c" /><Relationship Type="http://schemas.openxmlformats.org/officeDocument/2006/relationships/tableStyles" Target="/ppt/tableStyles.xml" Id="Rfa7011dc24a347ab" /><Relationship Type="http://schemas.openxmlformats.org/officeDocument/2006/relationships/slide" Target="/ppt/slides/slide1.xml" Id="R7bc7c9cc1ba04c39" /><Relationship Type="http://schemas.openxmlformats.org/officeDocument/2006/relationships/slide" Target="/ppt/slides/slide2.xml" Id="Rc92fb226d6b9454c" /><Relationship Type="http://schemas.openxmlformats.org/officeDocument/2006/relationships/slide" Target="/ppt/slides/slide3.xml" Id="R91aa0a8f0ed846c3" /><Relationship Type="http://schemas.openxmlformats.org/officeDocument/2006/relationships/slide" Target="/ppt/slides/slide4.xml" Id="Rc8a5ba3f1433417e" /><Relationship Type="http://schemas.openxmlformats.org/officeDocument/2006/relationships/slide" Target="/ppt/slides/slide5.xml" Id="Rfcd49a1374f744cd" /><Relationship Type="http://schemas.openxmlformats.org/officeDocument/2006/relationships/slide" Target="/ppt/slides/slide6.xml" Id="Re6ee17bef2c9405c" /><Relationship Type="http://schemas.openxmlformats.org/officeDocument/2006/relationships/slide" Target="/ppt/slides/slide7.xml" Id="R0dda43dbd15e4de8" /><Relationship Type="http://schemas.openxmlformats.org/officeDocument/2006/relationships/slide" Target="/ppt/slides/slide8.xml" Id="R6c96a1b434bd4fee" /><Relationship Type="http://schemas.openxmlformats.org/officeDocument/2006/relationships/slide" Target="/ppt/slides/slide9.xml" Id="Ree9b056ddd424183" /><Relationship Type="http://schemas.openxmlformats.org/officeDocument/2006/relationships/slide" Target="/ppt/slides/slide10.xml" Id="R1f12aaaf1d0244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dc13d7d56b4e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4772d61b3c4a86" /><Relationship Type="http://schemas.openxmlformats.org/officeDocument/2006/relationships/notesMaster" Target="/ppt/notesMasters/notesMaster1.xml" Id="R06ef899783ed48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c1c1ebacf24919" /><Relationship Type="http://schemas.openxmlformats.org/officeDocument/2006/relationships/notesMaster" Target="/ppt/notesMasters/notesMaster1.xml" Id="R9bccd1dd43e243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bbce2aca81432d" /><Relationship Type="http://schemas.openxmlformats.org/officeDocument/2006/relationships/notesMaster" Target="/ppt/notesMasters/notesMaster1.xml" Id="R26b3bb8c6b024f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51b0ddb0ca44b8" /><Relationship Type="http://schemas.openxmlformats.org/officeDocument/2006/relationships/notesMaster" Target="/ppt/notesMasters/notesMaster1.xml" Id="Rf3f604ed91504d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bce618dc9947c4" /><Relationship Type="http://schemas.openxmlformats.org/officeDocument/2006/relationships/notesMaster" Target="/ppt/notesMasters/notesMaster1.xml" Id="Red00923a2e094c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c8a091d5f44006" /><Relationship Type="http://schemas.openxmlformats.org/officeDocument/2006/relationships/notesMaster" Target="/ppt/notesMasters/notesMaster1.xml" Id="R882604d183cf46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2fc88d37b14062" /><Relationship Type="http://schemas.openxmlformats.org/officeDocument/2006/relationships/notesMaster" Target="/ppt/notesMasters/notesMaster1.xml" Id="R4a47dd67f5fb43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fffcfe6701403b" /><Relationship Type="http://schemas.openxmlformats.org/officeDocument/2006/relationships/notesMaster" Target="/ppt/notesMasters/notesMaster1.xml" Id="R2fb8717e876a47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82ae972b1d4aa9" /><Relationship Type="http://schemas.openxmlformats.org/officeDocument/2006/relationships/notesMaster" Target="/ppt/notesMasters/notesMaster1.xml" Id="R5e4f44efd20347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a7461ca697410d" /><Relationship Type="http://schemas.openxmlformats.org/officeDocument/2006/relationships/notesMaster" Target="/ppt/notesMasters/notesMaster1.xml" Id="R81e4af4e3dbc4b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763b7844845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7062213304e0b" /><Relationship Type="http://schemas.openxmlformats.org/officeDocument/2006/relationships/slideLayout" Target="/ppt/slideLayouts/slideLayout1.xml" Id="R4bfd0bd2ccd24d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fd0bd2ccd2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6ee9acf1043db" /><Relationship Type="http://schemas.openxmlformats.org/officeDocument/2006/relationships/notesSlide" Target="/ppt/notesSlides/notesSlide1.xml" Id="R59c43e0b6423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69443ad954f69" /><Relationship Type="http://schemas.openxmlformats.org/officeDocument/2006/relationships/notesSlide" Target="/ppt/notesSlides/notesSlide2.xml" Id="Rd200cbf4a39341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0993d8bd242d0" /><Relationship Type="http://schemas.openxmlformats.org/officeDocument/2006/relationships/notesSlide" Target="/ppt/notesSlides/notesSlide3.xml" Id="Ra1f83489f0fe44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a146168924473" /><Relationship Type="http://schemas.openxmlformats.org/officeDocument/2006/relationships/notesSlide" Target="/ppt/notesSlides/notesSlide4.xml" Id="R11cb7076d4e7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33a847d954458" /><Relationship Type="http://schemas.openxmlformats.org/officeDocument/2006/relationships/notesSlide" Target="/ppt/notesSlides/notesSlide5.xml" Id="R53400c35b23c4c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fa223652d4a67" /><Relationship Type="http://schemas.openxmlformats.org/officeDocument/2006/relationships/notesSlide" Target="/ppt/notesSlides/notesSlide6.xml" Id="Raad8d788201a4e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7545bc26f4c62" /><Relationship Type="http://schemas.openxmlformats.org/officeDocument/2006/relationships/image" Target="/ppt/media/image.png" Id="R9e2b00b0478b46bc" /><Relationship Type="http://schemas.openxmlformats.org/officeDocument/2006/relationships/image" Target="/ppt/media/image2.png" Id="Reb215b18540c421f" /><Relationship Type="http://schemas.openxmlformats.org/officeDocument/2006/relationships/notesSlide" Target="/ppt/notesSlides/notesSlide7.xml" Id="R3d3654cf91d548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d922ee0fb4e18" /><Relationship Type="http://schemas.openxmlformats.org/officeDocument/2006/relationships/image" Target="/ppt/media/image3.png" Id="R89db80cfb8c6476d" /><Relationship Type="http://schemas.openxmlformats.org/officeDocument/2006/relationships/notesSlide" Target="/ppt/notesSlides/notesSlide8.xml" Id="R8d861ebde57847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caf3534ee4235" /><Relationship Type="http://schemas.openxmlformats.org/officeDocument/2006/relationships/notesSlide" Target="/ppt/notesSlides/notesSlide9.xml" Id="R1dcba50aa5b140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00853113e43ef" /><Relationship Type="http://schemas.openxmlformats.org/officeDocument/2006/relationships/notesSlide" Target="/ppt/notesSlides/notesSlide10.xml" Id="Ree76223e0dfa47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6336C-19D6-43C2-AC5C-C864B01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B407D-3810-4FB8-A21A-F46DC87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0A020-8D62-40E1-B5D1-6501F937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7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C7D8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A742C-0690-4A48-8158-F33F660A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7C7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C7D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70F891-05AC-4E02-93B9-D3D38F69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2B38F53-A87F-48B3-8B68-700C0985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3E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E3E3"/>
                </a:solidFill>
                <a:latin typeface="Aptos"/>
                <a:ea typeface="Aptos"/>
                <a:cs typeface="Aptos"/>
              </a:rPr>
              <a:t>FINAL SUBMISSION TECHNICAL SECTION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E24C3-2FE5-4DB8-8576-EDD261D7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933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Home Credit default-risk scoring, rebuilt as a production ML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B3F99-7C3B-4E85-88AA-6ECA13A0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71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E4E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8E4EF"/>
                </a:solidFill>
                <a:latin typeface="Aptos"/>
                <a:ea typeface="Aptos"/>
                <a:cs typeface="Aptos"/>
              </a:rPr>
              <a:t>Home Credit Risk MLOps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2B9D3-5DE8-41AF-8D9F-4C9346A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0B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1A0B2"/>
                </a:solidFill>
                <a:latin typeface="Aptos"/>
                <a:ea typeface="Aptos"/>
                <a:cs typeface="Aptos"/>
              </a:rPr>
              <a:t>github.com/QingyuanWang-Data/INSY684_Group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90AD8-89F0-41FB-A153-E0AC1ECC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1A6A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1A6A6"/>
                </a:solidFill>
                <a:latin typeface="Aptos Display"/>
                <a:ea typeface="Aptos Display"/>
                <a:cs typeface="Aptos Display"/>
              </a:rPr>
              <a:t>0.7619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E8193-718D-437B-9712-A03F7F09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sampled validation ROC-AUC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1EF34-79F6-4C87-9FBC-ED236EFD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8A169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38A169"/>
                </a:solidFill>
                <a:latin typeface="Aptos Display"/>
                <a:ea typeface="Aptos Display"/>
                <a:cs typeface="Aptos Display"/>
              </a:rPr>
              <a:t>0.7679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28419-CDA7-4256-A2E4-0A3A412C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86275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best Optuna validation ROC-AUC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37867-F94F-4A51-8F14-40B16A0A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58A22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58A22"/>
                </a:solidFill>
                <a:latin typeface="Aptos Display"/>
                <a:ea typeface="Aptos Display"/>
                <a:cs typeface="Aptos Display"/>
              </a:rPr>
              <a:t>450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AC0D0-575B-4827-904A-B608700A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627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engineered model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D1629-E368-4CB7-9F8A-559E0AF6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95E4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C95E4B"/>
                </a:solidFill>
                <a:latin typeface="Aptos Display"/>
                <a:ea typeface="Aptos Display"/>
                <a:cs typeface="Aptos Display"/>
              </a:rPr>
              <a:t>50,000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1854D-116E-4621-ACF6-02F44791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fresh experiment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1D96B-46C8-42F7-AB58-12C72BD8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0B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0B2"/>
                </a:solidFill>
                <a:latin typeface="Aptos"/>
                <a:ea typeface="Aptos"/>
                <a:cs typeface="Aptos"/>
              </a:rPr>
              <a:t>Evidence generated on 2026-06-14 from artifacts/training_report.json and artifacts/tuning_report.json.</a:t>
            </a:r>
          </a:p>
        </p:txBody>
      </p:sp>
    </p:spTree>
    <p:extLst>
      <p:ext uri="{BB962C8B-B14F-4D97-AF65-F5344CB8AC3E}">
        <p14:creationId xmlns:p14="http://schemas.microsoft.com/office/powerpoint/2010/main" val="19202769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A50D7-8019-473C-99BC-88A4ED72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F9C1B-7259-482B-9C34-31323F3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95BD4-AD28-4AC5-BDFC-6322B6F9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7509D-7BF6-4A5A-B2CD-DD72E6CB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4F2023-D5C3-432F-8679-E316671B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75EB74A-D1A6-45BB-9409-5C9689E5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359A6-F794-4801-9624-D142030E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33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deck covers the items the professor explicitly asked reviewers to find.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B779B-05A6-4F0D-B7C0-98A64411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AAD31-9DFC-4FEB-874A-86968B81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Presentation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61A48-555E-496E-AB83-852223ED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solidFill>
              <a:srgbClr val="E8E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910E1-48D7-41F7-9999-D8E1419C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351B1-84C5-41CF-9B35-A8E7FF0B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7BA3C-3260-4BE8-9601-220B6912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Team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A3FF0-D1DA-4FCF-A37F-5559C6D1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62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1"/>
          </a:solidFill>
          <a:ln xmlns:a="http://schemas.openxmlformats.org/drawingml/2006/main" w="0">
            <a:solidFill>
              <a:srgbClr val="E7F7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96834-35F6-4EE9-B81F-BB3B77FA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A1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A169"/>
                </a:solidFill>
                <a:latin typeface="Aptos"/>
                <a:ea typeface="Aptos"/>
                <a:cs typeface="Aptos"/>
              </a:rPr>
              <a:t>Home Credit Risk MLOps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E1CC5-84DA-43FC-85F7-7498C737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7114A-3B20-4A6A-90D5-42FD16E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Members + GitHub 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5D6BC-7291-45F3-A325-46CDB027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1"/>
          </a:solidFill>
          <a:ln xmlns:a="http://schemas.openxmlformats.org/drawingml/2006/main" w="0">
            <a:solidFill>
              <a:srgbClr val="E7F7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61BEF-A8AD-40CC-B35C-F7143825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28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A1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A169"/>
                </a:solidFill>
                <a:latin typeface="Aptos"/>
                <a:ea typeface="Aptos"/>
                <a:cs typeface="Aptos"/>
              </a:rPr>
              <a:t>4 listed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472B0-1A4E-435F-A033-52D0975E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70BA1-E5E1-48C2-A965-0E7031DB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GitHub 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644F7-34A3-4809-90C0-56361490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solidFill>
              <a:srgbClr val="E8E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2FEA0-0848-405D-8D03-31F62A63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28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857A2-3C85-4F11-9008-1ACCD60A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9892B-4101-4566-A0A3-0563298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MLflow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CB447-5295-443A-8FF9-B9847033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1"/>
          </a:solidFill>
          <a:ln xmlns:a="http://schemas.openxmlformats.org/drawingml/2006/main" w="0">
            <a:solidFill>
              <a:srgbClr val="E7F7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EBE0D-01BF-494D-8A15-64119AF1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A1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A169"/>
                </a:solidFill>
                <a:latin typeface="Aptos"/>
                <a:ea typeface="Aptos"/>
                <a:cs typeface="Aptos"/>
              </a:rPr>
              <a:t>Fresh run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1285F-A9CC-4EF0-A6F9-F25C972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5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980EB-6AE7-49DC-9FC4-D957CC6D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76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Optuna / HPO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F8D78C-1B9B-4E2F-899A-3B268855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1"/>
          </a:solidFill>
          <a:ln xmlns:a="http://schemas.openxmlformats.org/drawingml/2006/main" w="0">
            <a:solidFill>
              <a:srgbClr val="E7F7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597A1B-7537-4FBF-A690-45C5E601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671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A1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A169"/>
                </a:solidFill>
                <a:latin typeface="Aptos"/>
                <a:ea typeface="Aptos"/>
                <a:cs typeface="Aptos"/>
              </a:rPr>
              <a:t>10 trials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49D6E4-7009-4B03-B1DA-9409C8C7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F61E61-4967-494E-846E-CD38D380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Docker + CI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22F371-C6D8-4D95-B87E-0A761F70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1"/>
          </a:solidFill>
          <a:ln xmlns:a="http://schemas.openxmlformats.org/drawingml/2006/main" w="0">
            <a:solidFill>
              <a:srgbClr val="E7F7F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384D1F-C5B2-40A8-AB36-1824EC44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A1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A169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8BB78-C047-4FD9-B1AE-8CC01F0E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883983-D472-4024-9EF1-9C9EEF51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76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Monitoring + fairness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646B7C-7F58-4881-AF20-2BA707C4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1"/>
          </a:solidFill>
          <a:ln xmlns:a="http://schemas.openxmlformats.org/drawingml/2006/main" w="0">
            <a:solidFill>
              <a:srgbClr val="E7F7F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C6C7FC-7AD5-4534-ADBE-EA2AC411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671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A1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A169"/>
                </a:solidFill>
                <a:latin typeface="Aptos"/>
                <a:ea typeface="Aptos"/>
                <a:cs typeface="Aptos"/>
              </a:rPr>
              <a:t>Documented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1E4E09-75FA-49AB-A6F3-F7A47D79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Team: QingyuanWang-Data | Hankpapa | xuechen-17 | yasmminee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FAE9BD-7619-4007-8941-BA389B27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Repo branch: github.com/QingyuanWang-Data/INSY684_Group (code)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560ABC-D6F1-403A-9088-E3C2F56C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Requirement source: Group Project Submission instructions; repository evidence in docs/SUBMISSION_INFO.md.</a:t>
            </a:r>
          </a:p>
        </p:txBody>
      </p:sp>
    </p:spTree>
    <p:extLst>
      <p:ext uri="{BB962C8B-B14F-4D97-AF65-F5344CB8AC3E}">
        <p14:creationId xmlns:p14="http://schemas.microsoft.com/office/powerpoint/2010/main" val="17542924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E1C272-0B98-414B-864B-FA2842A1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37EBA-C486-43CA-97E1-58433E2C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FD6F5-DA1A-43E4-93B3-A70654B5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043FD-C610-491D-923F-F0B1B261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4A93F3-CB57-4E71-BBEF-01CD365B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3D8D18-34B6-43AE-8F0E-795EFD64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77113-DBB5-4914-8EE7-FAD187E8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33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project has a production path from raw data to monitored prediction service.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7BB10-48F0-467D-8568-81639A25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762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84FDC-757A-4B66-9161-98CB7793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5A1E0-820A-4054-83AF-DFB7A604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Raw data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E1C47-81D8-433D-B91F-CB9F746A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Kaggle CSV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EF08B-5607-4459-A20C-B974AD1F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3370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5181A-97D4-4D02-80DC-4BF37E20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0375"/>
            <a:ext cx="1762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D4F4A-73F2-4327-806B-9CA0A49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8DF6C-7E4D-41F9-990D-6D63C03A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147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Feature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EB82D-0607-4BAE-82C2-19A201F9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3857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450 engineered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7959D-E082-46FB-9ADD-BE14F4AC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CB7B3-C65B-42EC-B7F4-D038607C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33625"/>
            <a:ext cx="1762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C6AA9-8782-47D4-882A-5CA9B2B9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669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26407-94FE-4C37-A0A1-12F8CEFB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4797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Model training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99075-68D5-4BD6-8E6E-F3C96074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718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LightGBM + threshold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3285C-517F-4796-8276-575DF05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7BC71-E6E0-444B-949F-E51E91B5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0375"/>
            <a:ext cx="1762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11700-CA4A-4EE8-89C5-6515119A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337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440A6-3E16-4C03-8AB5-2A8E879A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147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Serving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9BE1E-5197-424C-9DE3-40012C2C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3857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FastAPI /predict + /ready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2BBCD-C657-48DE-9304-3EF76C7C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C2BB3-136F-4161-9F74-EFDA909C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33625"/>
            <a:ext cx="1762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5C0196-3609-47DB-81FD-ECA2019E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669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D03666-A5F5-475E-9112-E07F3C18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4797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Ops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720CA6-72B2-41B7-878C-85BE5CC0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71825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CI, Docker, MLflow, drift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33FB5D-72A9-4EEA-A1CF-D8CBDEFB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E0642-16EC-49EC-A668-9DBFE758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912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Readiness is separated from health, so the API can tell deployment platforms when the model artifact is actually loaded.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324D76-DF05-4321-9B37-FB730BF9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Evidence: Dockerfile, .github/workflows, docs/DEPLOYMENT.md, src/homecredit_service/main.py.</a:t>
            </a:r>
          </a:p>
        </p:txBody>
      </p:sp>
    </p:spTree>
    <p:extLst>
      <p:ext uri="{BB962C8B-B14F-4D97-AF65-F5344CB8AC3E}">
        <p14:creationId xmlns:p14="http://schemas.microsoft.com/office/powerpoint/2010/main" val="8434115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A54E99-25AC-488F-9188-C23FE2D0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57CA2-1286-4DCF-84B2-BE635062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0FB1E-59AA-4033-BD41-C0EEB062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7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C7D8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33620-4A02-48B4-80B3-A4AE0937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7C7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C7D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E1DE8F-03A7-4E69-BDB9-256244BF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58DEB8A-CD62-40BD-8743-E6F6C6E0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3E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E3E3"/>
                </a:solidFill>
                <a:latin typeface="Aptos"/>
                <a:ea typeface="Aptos"/>
                <a:cs typeface="Aptos"/>
              </a:rPr>
              <a:t>DATA AND FEATURE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5AACA-5957-4899-82F9-A4C7FFF3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model learns from applicant history across eight Home Credit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7271D-D454-4F65-93D1-4DFA47C9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1A6A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1A6A6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F568B-0D91-421C-B605-10FBCFEF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raw CSV tables validated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4CE6F-8A14-4C24-9EE5-3F4CDE92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58A22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58A22"/>
                </a:solidFill>
                <a:latin typeface="Aptos Display"/>
                <a:ea typeface="Aptos Display"/>
                <a:cs typeface="Aptos Display"/>
              </a:rPr>
              <a:t>450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3E18C-9432-4DE9-8F2A-1C0E0DDE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features after aggregation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339D2-BA9D-4F33-9244-2A0F7839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8A169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38A169"/>
                </a:solidFill>
                <a:latin typeface="Aptos Display"/>
                <a:ea typeface="Aptos Display"/>
                <a:cs typeface="Aptos Display"/>
              </a:rPr>
              <a:t>35k / 10k / 5k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C41EC-A1A5-4641-AFC8-40A7DE90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99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train / validation / test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8F74B-3765-42CC-8AED-FF6622EC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990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A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6A259-AF54-4C41-9943-24FA416B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923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implementation fix: ID columns are normalized as stable int64 join keys before merging bureau, previous-application, POS, installment, and credit-card tables. This prevents pandas dtype mismatch errors and makes the pipeline robust across local environments.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72AC5-EFFA-4CC4-BD19-A79AEB3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0B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0B2"/>
                </a:solidFill>
                <a:latin typeface="Aptos"/>
                <a:ea typeface="Aptos"/>
                <a:cs typeface="Aptos"/>
              </a:rPr>
              <a:t>Evidence: src/homecredit_service/features.py and artifacts/training_report.json.</a:t>
            </a:r>
          </a:p>
        </p:txBody>
      </p:sp>
    </p:spTree>
    <p:extLst>
      <p:ext uri="{BB962C8B-B14F-4D97-AF65-F5344CB8AC3E}">
        <p14:creationId xmlns:p14="http://schemas.microsoft.com/office/powerpoint/2010/main" val="15410368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B3E1B0-E0CD-4E82-A3A7-1FED0F0A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CA818-ED1C-455F-BDE1-575569CF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4E639-5984-4A3C-BDD4-01448D64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D5F0E-536C-44B4-BDDE-D3B62A44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D370D3-0CC5-4916-AEEE-C35C454F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4FE819E-2F3C-4396-9638-B16B7691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MLFLOW RUN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61516-6F7C-432D-9073-68EEFE63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final run is reproducible, named, and traceable.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C0355-8917-43BF-8815-F57F7187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476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A1887-72DF-4D2E-ADEF-2392EFB5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130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sampled-50000-final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588C3-A1B6-4593-8249-D8170D4B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Run ID</a:t>
            </a:r>
          </a:p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e39bb77d177f41298e7cc44275e5db30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15024-D633-4383-A0DB-0EA18E7F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Logged reports, plots, dependency snapshot, threshold policy, and validation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9854E-1612-4B5E-BB81-83702E1A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0.9679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68F6D-C30D-4561-87CF-64C98CFE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train ROC-AUC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5E36A-2379-4E3E-80E4-24F758FD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8A169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38A169"/>
                </a:solidFill>
                <a:latin typeface="Aptos Display"/>
                <a:ea typeface="Aptos Display"/>
                <a:cs typeface="Aptos Display"/>
              </a:rPr>
              <a:t>0.7619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B2E53-8618-43DE-BFCD-B82129D2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validation ROC-AUC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04392-DB20-4377-82B8-A7F94774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1A6A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1A6A6"/>
                </a:solidFill>
                <a:latin typeface="Aptos Display"/>
                <a:ea typeface="Aptos Display"/>
                <a:cs typeface="Aptos Display"/>
              </a:rPr>
              <a:t>0.2545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48A11-F8A1-4BC5-990C-D35CC9F8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244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validation PR-AUC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79B20-C1BA-4776-9BFD-B42B71DA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58A22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58A22"/>
                </a:solidFill>
                <a:latin typeface="Aptos Display"/>
                <a:ea typeface="Aptos Display"/>
                <a:cs typeface="Aptos Display"/>
              </a:rPr>
              <a:t>0.549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DD771-0EE3-4D1A-A800-45E5AD7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244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selected threshold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EE1F4-30A8-46B0-9954-52A4DC6E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Evidence: local MLflow run plus committed artifacts/training_report.json.</a:t>
            </a:r>
          </a:p>
        </p:txBody>
      </p:sp>
    </p:spTree>
    <p:extLst>
      <p:ext uri="{BB962C8B-B14F-4D97-AF65-F5344CB8AC3E}">
        <p14:creationId xmlns:p14="http://schemas.microsoft.com/office/powerpoint/2010/main" val="9966603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588184-5109-4CB6-A199-796EA82F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F5D7-28B2-4479-97E8-519239C3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6581F-C6B0-44F0-B978-F71DAA74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1E1B3-77D8-43BF-B306-08BA69EB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722F8D-A07A-4515-B69E-FAED120F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666B24-BD19-4844-9166-09A77E39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HYPERPARAMETER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1D7DC-5912-4DBE-99CC-3F7CAFA8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23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Optuna improved validation AUC and gives the team a concrete tuning 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395A5-966E-4941-9258-AE5CC778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Validation ROC-AUC by trial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429C0-B958-4787-9D48-3FB4C00C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43FA0-98C4-48E1-9745-A2A86219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1717"/>
            <a:ext cx="438150" cy="9317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96031-BEDC-43DB-A134-50E9EF5C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DF7D3-C614-4474-A21E-BDC80E46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96026"/>
            <a:ext cx="438150" cy="747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31B71-952D-49D3-948A-92CCD472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1B4BB-418E-4774-BBA7-B0EBE09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14775"/>
            <a:ext cx="43815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BD0DB-DC03-4B6B-8419-941894B2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7BE96-085A-41E1-B035-7E23C249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81663"/>
            <a:ext cx="438150" cy="13618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72C9E-2ADE-4AAF-BDE4-3A924F41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57B88-CA6E-4462-BDED-C15FBC2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41771"/>
            <a:ext cx="438150" cy="5017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83C04-E1C9-4108-A62E-F09C5169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2BBD7-2A98-4ECF-A3FA-9DCAC5C6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76211"/>
            <a:ext cx="438150" cy="11672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C852D-8A9F-4BCE-A9E4-2924BC14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C3F18-33EE-48A5-990F-129F380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2914"/>
            <a:ext cx="438150" cy="8805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425F9-9C84-4015-8AE0-1F8C172A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F0385-C4A9-44D6-B8E7-3236DE84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84057"/>
            <a:ext cx="438150" cy="1259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94C06-E445-4637-B305-82BE4793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9CADF-7E00-4203-918F-A8C1D530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8419"/>
            <a:ext cx="438150" cy="6450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FC4449-B78D-4393-9C08-6188B484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A83C7-3EF0-4314-9C73-35654ED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10652"/>
            <a:ext cx="438150" cy="183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8C8E0-77BA-4EBA-B0EA-3DE76C8A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2578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61D9A8-FEDB-4C6E-8C43-E3C9E356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1"/>
          </a:solidFill>
          <a:ln xmlns:a="http://schemas.openxmlformats.org/drawingml/2006/main" w="9525">
            <a:solidFill>
              <a:srgbClr val="BDE8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C50217-B079-4B56-99DB-4EB305B9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8A169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38A169"/>
                </a:solidFill>
                <a:latin typeface="Aptos"/>
                <a:ea typeface="Aptos"/>
                <a:cs typeface="Aptos"/>
              </a:rPr>
              <a:t>0.7679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36E0AC-C9FD-421C-A475-224C39B4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best validation ROC-AUC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trial 9 / 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7D8503-F253-4890-A8A6-E64AABE5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Best params: 387 estimators, learning rate 0.0199, 28 leaves, max depth 9.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3A9527-3574-40B1-8850-490D6529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Evidence: artifacts/tuning_report.json and artifacts/tuning_trials.csv.</a:t>
            </a:r>
          </a:p>
        </p:txBody>
      </p:sp>
    </p:spTree>
    <p:extLst>
      <p:ext uri="{BB962C8B-B14F-4D97-AF65-F5344CB8AC3E}">
        <p14:creationId xmlns:p14="http://schemas.microsoft.com/office/powerpoint/2010/main" val="13344986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3D6EB5-F449-4489-8419-0EE2EE4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97A09-2F28-41AD-BB1C-169125AF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2D7D5-CFCC-449D-8DCD-3B59FF15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49329-C61F-4050-8A33-0356036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33713E-9C79-49EF-9349-7B5CF4CE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E1D8356-2CD8-41BA-9F06-848C2EA9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VALIDATION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86284-446A-42EB-BB06-7AA9DF10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result is inspectable through curves, not just a single AUC number.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b00b0478b46bc"/>
          <a:stretch xmlns:a="http://schemas.openxmlformats.org/drawingml/2006/main"/>
        </p:blipFill>
        <p:spPr>
          <a:xfrm xmlns:a="http://schemas.openxmlformats.org/drawingml/2006/main">
            <a:off x="723900" y="2488406"/>
            <a:ext cx="5095875" cy="2547938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15b18540c421f"/>
          <a:stretch xmlns:a="http://schemas.openxmlformats.org/drawingml/2006/main"/>
        </p:blipFill>
        <p:spPr>
          <a:xfrm xmlns:a="http://schemas.openxmlformats.org/drawingml/2006/main">
            <a:off x="6858000" y="219075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ED1DE-BE66-4D2E-BBC3-FBD051E9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Learning curve: validation AUC plateaus while train AUC keeps rising, so model capacity is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5A466-39ED-42B0-8435-3B97DE87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4292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Calibration: probability behavior can be reviewed before turning scores into policy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988AE-16FA-47A4-B234-A38C01B0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Evidence: artifacts/plots/train_validation_learning_curve.png and validation_calibration_curve.png.</a:t>
            </a:r>
          </a:p>
        </p:txBody>
      </p:sp>
    </p:spTree>
    <p:extLst>
      <p:ext uri="{BB962C8B-B14F-4D97-AF65-F5344CB8AC3E}">
        <p14:creationId xmlns:p14="http://schemas.microsoft.com/office/powerpoint/2010/main" val="19013404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BD875-BA8A-425F-B0B5-00177379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754A7-2664-4406-AE48-2FF4CB5F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84A2A-BF0D-48A6-BB23-7C6B6AB6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7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C7D8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0343A-F5F6-46F0-9700-DF499F9F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7C7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C7D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2A7AA9-F170-4563-84B5-4520152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B1AE27C-597D-4EB2-8014-49795ED1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9AE6A-3E3F-4AAA-9BC0-2D9030A1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Fairness, drift, and policy artifacts make the model reviewable.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b80cfb8c6476d"/>
          <a:stretch xmlns:a="http://schemas.openxmlformats.org/drawingml/2006/main"/>
        </p:blipFill>
        <p:spPr>
          <a:xfrm xmlns:a="http://schemas.openxmlformats.org/drawingml/2006/main">
            <a:off x="962025" y="2428875"/>
            <a:ext cx="34290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79A7-8CFF-438A-8E26-8A8C3488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24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4A4D4-930E-4A21-B653-45A0F5BB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28875"/>
            <a:ext cx="512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card records intended use, scope, metrics, limitations, and release guardrails.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3BA6F-7FE8-48D2-A503-74C1C8F6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16B4D-6D24-4EFF-B88D-1C5FCA8E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43250"/>
            <a:ext cx="512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Fairness report tracks subgroup AUC, recall, approval rate, and approved default rate.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7F594-6F23-4411-9C07-AF8888B3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52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55DC3-1815-421F-BE78-C2E0E57D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57625"/>
            <a:ext cx="512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Monitoring report tracks validation AUC, PR-AUC, score PSI, feature drift, and threshold cost.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E9CE4-A36E-4047-BE3E-4D6EFA83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AD0FE-FBE2-4D38-864B-B5174D7E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72000"/>
            <a:ext cx="512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Threshold policy is explicit instead of hidden inside an arbitrary 0.50 cutoff.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F3C84-6833-47B6-B18E-C8ECEAB1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0B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0B2"/>
                </a:solidFill>
                <a:latin typeface="Aptos"/>
                <a:ea typeface="Aptos"/>
                <a:cs typeface="Aptos"/>
              </a:rPr>
              <a:t>Evidence: docs/MODEL_CARD.md, docs/FAIRNESS.md, docs/MONITORING.md.</a:t>
            </a:r>
          </a:p>
        </p:txBody>
      </p:sp>
    </p:spTree>
    <p:extLst>
      <p:ext uri="{BB962C8B-B14F-4D97-AF65-F5344CB8AC3E}">
        <p14:creationId xmlns:p14="http://schemas.microsoft.com/office/powerpoint/2010/main" val="767074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9C116-A516-4C49-9887-7926E3C2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292A2-D3F5-4605-ACC0-B2EE5842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6AB03-CA21-4E68-BA29-EE61CD09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6A35C-7014-40AB-950B-A321C891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6E9BD2-3A64-4D53-9C93-A4EDA895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0768AB-C0C0-4FBE-B1AD-140359BE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DEPLOYMENT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EF07F-62D2-4128-93C3-EA7E42D2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95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serving contract is ready for a cloud container target.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70BDB-E717-4B79-9C9A-70E4A8D7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476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15D8C-53A0-46CD-81B6-B4C78AE3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9E576-F1E6-4AFF-BC00-3608AD8F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479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/predict, /predict/batch, /metadata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7FC94-9EBA-4D46-89B2-C73AF874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476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32AC7-7ED2-430B-B5C4-74556E43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A1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8A169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A2AA0-670B-45C1-B3FB-8D27EC8D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/health checks process; /ready checks model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23244-F23C-4BF3-9F60-6010437C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476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C8D83-C18A-4CD7-86E5-F303BCDE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386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58A2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58A22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F1AFE-911D-4D74-8BA5-67A4EE6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672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locked uv install with runtime artifact mount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9A3A3-E0A7-405D-93C3-CAC974A4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476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1863F-4FAB-466D-983E-61266EF1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386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1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1A6A6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266D0-7772-4054-A470-E1666B8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lint, type check, tests, governance smoke test, Docker 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93F97-0B01-4756-9502-94FD2351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Evidence: Dockerfile, .dockerignore, .github/workflows, docs/DEPLOYMENT.md.</a:t>
            </a:r>
          </a:p>
        </p:txBody>
      </p:sp>
    </p:spTree>
    <p:extLst>
      <p:ext uri="{BB962C8B-B14F-4D97-AF65-F5344CB8AC3E}">
        <p14:creationId xmlns:p14="http://schemas.microsoft.com/office/powerpoint/2010/main" val="107084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CB973-2FD8-4CC8-A496-820BC3FC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06F63-AD8F-4E1F-A9A5-BA2217B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E16F3-4535-4B21-9124-149C3C01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7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C7D8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0F369-0788-42FA-BA4E-5C3D9DE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7C7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C7D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069E71-DD41-4294-A93F-CAD5BBF8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3DC796-9851-4323-A695-B5009268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3E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E3E3"/>
                </a:solidFill>
                <a:latin typeface="Aptos"/>
                <a:ea typeface="Aptos"/>
                <a:cs typeface="Aptos"/>
              </a:rPr>
              <a:t>FINAL READOUT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9DB09-B03F-40CC-BD22-3D050B37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A-level story is not just model accuracy; it is production discipline.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99EAC-60AD-43A7-9F71-63023028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1A6A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1A6A6"/>
                </a:solidFill>
                <a:latin typeface="Aptos Display"/>
                <a:ea typeface="Aptos Display"/>
                <a:cs typeface="Aptos Display"/>
              </a:rPr>
              <a:t>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31F9D-5452-4AAB-A833-EB4E1B81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package, tests, CI, Docker,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71E97-1768-40FC-8282-F01B8C9F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8A169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38A169"/>
                </a:solidFill>
                <a:latin typeface="Aptos Display"/>
                <a:ea typeface="Aptos Display"/>
                <a:cs typeface="Aptos Display"/>
              </a:rPr>
              <a:t>Tracked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6FDC9-51E6-46D6-927D-DBB8CE0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MLflow run + Optuna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FB90A-39E6-47E2-8C96-D703297F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58A22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58A22"/>
                </a:solidFill>
                <a:latin typeface="Aptos Display"/>
                <a:ea typeface="Aptos Display"/>
                <a:cs typeface="Aptos Display"/>
              </a:rPr>
              <a:t>Governed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30821-DC69-408E-B8C7-4A0C202C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051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3DF"/>
                </a:solidFill>
                <a:latin typeface="Aptos"/>
                <a:ea typeface="Aptos"/>
                <a:cs typeface="Aptos"/>
              </a:rPr>
              <a:t>fairness, drift, model card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047F1-C3B9-44D8-88B2-FFF6904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21EA9-4C44-4C2A-A49F-3D7C28EF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8267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0.7619 as the fresh sampled validation result and 0.7679 as tuning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DD115-4084-4121-8F95-2BC0951D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FFD7C-5EBF-4A9D-9D0F-19F55FD3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836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Mention the historical full baseline test AUC separately if asked about final holdout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D2ADF-9077-4C6F-BF1A-7A208367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28575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E4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E4EF"/>
                </a:solidFill>
                <a:latin typeface="Aptos"/>
                <a:ea typeface="Aptos"/>
                <a:cs typeface="Aptos"/>
              </a:rPr>
              <a:t>Next in group deck: add course title slide, team introduction, and concise speaker notes.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8DD76-7600-41D5-8125-0C10B9E7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0B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0B2"/>
                </a:solidFill>
                <a:latin typeface="Aptos"/>
                <a:ea typeface="Aptos"/>
                <a:cs typeface="Aptos"/>
              </a:rPr>
              <a:t>Repository evidence is committed to branch code.</a:t>
            </a:r>
          </a:p>
        </p:txBody>
      </p:sp>
    </p:spTree>
    <p:extLst>
      <p:ext uri="{BB962C8B-B14F-4D97-AF65-F5344CB8AC3E}">
        <p14:creationId xmlns:p14="http://schemas.microsoft.com/office/powerpoint/2010/main" val="1430858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2026-06-14T17:23:58.7930000Z</dcterms:created>
  <dcterms:modified xsi:type="dcterms:W3CDTF">2026-06-14T17:23:58.7930000Z</dcterms:modified>
</coreProperties>
</file>
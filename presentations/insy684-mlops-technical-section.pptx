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70c0c677284651" /><Relationship Type="http://schemas.openxmlformats.org/officeDocument/2006/relationships/extended-properties" Target="/docProps/app.xml" Id="R737c21b167114df8" /><Relationship Type="http://schemas.openxmlformats.org/officeDocument/2006/relationships/officeDocument" Target="/ppt/presentation.xml" Id="R52281f232e2b4a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910a14a3e3431e"/>
  </p:sldMasterIdLst>
  <p:notesMasterIdLst>
    <p:notesMasterId xmlns:r="http://schemas.openxmlformats.org/officeDocument/2006/relationships" r:id="Rb3c60301405045c5"/>
  </p:notesMasterIdLst>
  <p:sldIdLst>
    <p:sldId xmlns:r="http://schemas.openxmlformats.org/officeDocument/2006/relationships" id="256" r:id="R5cd266fd67b54597"/>
    <p:sldId xmlns:r="http://schemas.openxmlformats.org/officeDocument/2006/relationships" id="257" r:id="R87008bfe62a44728"/>
    <p:sldId xmlns:r="http://schemas.openxmlformats.org/officeDocument/2006/relationships" id="258" r:id="Redba5eceb451462c"/>
    <p:sldId xmlns:r="http://schemas.openxmlformats.org/officeDocument/2006/relationships" id="259" r:id="R5c01959b510643a5"/>
    <p:sldId xmlns:r="http://schemas.openxmlformats.org/officeDocument/2006/relationships" id="260" r:id="R195d6641bbd74635"/>
    <p:sldId xmlns:r="http://schemas.openxmlformats.org/officeDocument/2006/relationships" id="261" r:id="R3386d832402b4af9"/>
    <p:sldId xmlns:r="http://schemas.openxmlformats.org/officeDocument/2006/relationships" id="262" r:id="Rf90a0d72b28a4229"/>
    <p:sldId xmlns:r="http://schemas.openxmlformats.org/officeDocument/2006/relationships" id="263" r:id="Rbf50c4528d404a5e"/>
    <p:sldId xmlns:r="http://schemas.openxmlformats.org/officeDocument/2006/relationships" id="264" r:id="R7ca5e38a46bc4999"/>
    <p:sldId xmlns:r="http://schemas.openxmlformats.org/officeDocument/2006/relationships" id="265" r:id="Rbc78afcb2a6d4c27"/>
    <p:sldId xmlns:r="http://schemas.openxmlformats.org/officeDocument/2006/relationships" id="266" r:id="R6de3b3d3a512408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a90d81d7da48a7" /><Relationship Type="http://schemas.openxmlformats.org/officeDocument/2006/relationships/slideMaster" Target="/ppt/slideMasters/slideMaster1.xml" Id="R7d910a14a3e3431e" /><Relationship Type="http://schemas.openxmlformats.org/officeDocument/2006/relationships/notesMaster" Target="/ppt/notesMasters/notesMaster1.xml" Id="Rb3c60301405045c5" /><Relationship Type="http://schemas.openxmlformats.org/officeDocument/2006/relationships/presProps" Target="/ppt/presProps.xml" Id="Ra29dcf2131794290" /><Relationship Type="http://schemas.openxmlformats.org/officeDocument/2006/relationships/tableStyles" Target="/ppt/tableStyles.xml" Id="Rcc675ae330b349e4" /><Relationship Type="http://schemas.openxmlformats.org/officeDocument/2006/relationships/slide" Target="/ppt/slides/slide1.xml" Id="R5cd266fd67b54597" /><Relationship Type="http://schemas.openxmlformats.org/officeDocument/2006/relationships/slide" Target="/ppt/slides/slide2.xml" Id="R87008bfe62a44728" /><Relationship Type="http://schemas.openxmlformats.org/officeDocument/2006/relationships/slide" Target="/ppt/slides/slide3.xml" Id="Redba5eceb451462c" /><Relationship Type="http://schemas.openxmlformats.org/officeDocument/2006/relationships/slide" Target="/ppt/slides/slide4.xml" Id="R5c01959b510643a5" /><Relationship Type="http://schemas.openxmlformats.org/officeDocument/2006/relationships/slide" Target="/ppt/slides/slide5.xml" Id="R195d6641bbd74635" /><Relationship Type="http://schemas.openxmlformats.org/officeDocument/2006/relationships/slide" Target="/ppt/slides/slide6.xml" Id="R3386d832402b4af9" /><Relationship Type="http://schemas.openxmlformats.org/officeDocument/2006/relationships/slide" Target="/ppt/slides/slide7.xml" Id="Rf90a0d72b28a4229" /><Relationship Type="http://schemas.openxmlformats.org/officeDocument/2006/relationships/slide" Target="/ppt/slides/slide8.xml" Id="Rbf50c4528d404a5e" /><Relationship Type="http://schemas.openxmlformats.org/officeDocument/2006/relationships/slide" Target="/ppt/slides/slide9.xml" Id="R7ca5e38a46bc4999" /><Relationship Type="http://schemas.openxmlformats.org/officeDocument/2006/relationships/slide" Target="/ppt/slides/slide10.xml" Id="Rbc78afcb2a6d4c27" /><Relationship Type="http://schemas.openxmlformats.org/officeDocument/2006/relationships/slide" Target="/ppt/slides/slide11.xml" Id="R6de3b3d3a51240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2fa5a7e9a046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561517474d4f7c" /><Relationship Type="http://schemas.openxmlformats.org/officeDocument/2006/relationships/notesMaster" Target="/ppt/notesMasters/notesMaster1.xml" Id="R06510b806fcf41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fd38eee8334924" /><Relationship Type="http://schemas.openxmlformats.org/officeDocument/2006/relationships/notesMaster" Target="/ppt/notesMasters/notesMaster1.xml" Id="R856fc1a36633445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3bc7a6c1ee4d1f" /><Relationship Type="http://schemas.openxmlformats.org/officeDocument/2006/relationships/notesMaster" Target="/ppt/notesMasters/notesMaster1.xml" Id="R21b3aa520b85421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3acf7387d814a2e" /><Relationship Type="http://schemas.openxmlformats.org/officeDocument/2006/relationships/notesMaster" Target="/ppt/notesMasters/notesMaster1.xml" Id="Rb86d6b8974ef4c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42ffccde0d7445f" /><Relationship Type="http://schemas.openxmlformats.org/officeDocument/2006/relationships/notesMaster" Target="/ppt/notesMasters/notesMaster1.xml" Id="Ree8da5f3aacc476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9913c223ae4dbe" /><Relationship Type="http://schemas.openxmlformats.org/officeDocument/2006/relationships/notesMaster" Target="/ppt/notesMasters/notesMaster1.xml" Id="R5762e68d9ae64d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e7a4d9c8a29478b" /><Relationship Type="http://schemas.openxmlformats.org/officeDocument/2006/relationships/notesMaster" Target="/ppt/notesMasters/notesMaster1.xml" Id="R44d89437262a4f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e4a02c66294fbd" /><Relationship Type="http://schemas.openxmlformats.org/officeDocument/2006/relationships/notesMaster" Target="/ppt/notesMasters/notesMaster1.xml" Id="Rebaae6f1570647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1a4af36e1184446" /><Relationship Type="http://schemas.openxmlformats.org/officeDocument/2006/relationships/notesMaster" Target="/ppt/notesMasters/notesMaster1.xml" Id="Rfdee82004dfd45c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b6aed26b7514619" /><Relationship Type="http://schemas.openxmlformats.org/officeDocument/2006/relationships/notesMaster" Target="/ppt/notesMasters/notesMaster1.xml" Id="R32d5b5992cc84f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b7216c767a45d3" /><Relationship Type="http://schemas.openxmlformats.org/officeDocument/2006/relationships/notesMaster" Target="/ppt/notesMasters/notesMaster1.xml" Id="Rdefc7bb91a2340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6e09e72a9447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5120b32b6a4e42" /><Relationship Type="http://schemas.openxmlformats.org/officeDocument/2006/relationships/slideLayout" Target="/ppt/slideLayouts/slideLayout1.xml" Id="Rf8a06d5d515a4c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a06d5d515a4c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3119bada824085" /><Relationship Type="http://schemas.openxmlformats.org/officeDocument/2006/relationships/notesSlide" Target="/ppt/notesSlides/notesSlide1.xml" Id="R65cc3ce231c648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a39a3373d4881" /><Relationship Type="http://schemas.openxmlformats.org/officeDocument/2006/relationships/notesSlide" Target="/ppt/notesSlides/notesSlide2.xml" Id="Rce7f74adb08f42e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2d51cd64594a64" /><Relationship Type="http://schemas.openxmlformats.org/officeDocument/2006/relationships/notesSlide" Target="/ppt/notesSlides/notesSlide3.xml" Id="R93059a8f6b7a49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5d2bf7aaa4558" /><Relationship Type="http://schemas.openxmlformats.org/officeDocument/2006/relationships/notesSlide" Target="/ppt/notesSlides/notesSlide4.xml" Id="R567e69a27cfa42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54e1d64c04d98" /><Relationship Type="http://schemas.openxmlformats.org/officeDocument/2006/relationships/notesSlide" Target="/ppt/notesSlides/notesSlide5.xml" Id="R81077387af2344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44023ce4747a5" /><Relationship Type="http://schemas.openxmlformats.org/officeDocument/2006/relationships/image" Target="/ppt/media/image.png" Id="Ref0516fb651e4055" /><Relationship Type="http://schemas.openxmlformats.org/officeDocument/2006/relationships/notesSlide" Target="/ppt/notesSlides/notesSlide6.xml" Id="Rec5a3ce5d0ac44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c2352d1e8d4589" /><Relationship Type="http://schemas.openxmlformats.org/officeDocument/2006/relationships/image" Target="/ppt/media/image2.png" Id="R4c67611d7b324280" /><Relationship Type="http://schemas.openxmlformats.org/officeDocument/2006/relationships/image" Target="/ppt/media/image3.png" Id="R0e1de792c523478d" /><Relationship Type="http://schemas.openxmlformats.org/officeDocument/2006/relationships/image" Target="/ppt/media/image4.png" Id="Rbcacbbb75955482a" /><Relationship Type="http://schemas.openxmlformats.org/officeDocument/2006/relationships/notesSlide" Target="/ppt/notesSlides/notesSlide7.xml" Id="R635d9867889240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5f7cf41914035" /><Relationship Type="http://schemas.openxmlformats.org/officeDocument/2006/relationships/image" Target="/ppt/media/image5.png" Id="R4908a5f20fc04873" /><Relationship Type="http://schemas.openxmlformats.org/officeDocument/2006/relationships/notesSlide" Target="/ppt/notesSlides/notesSlide8.xml" Id="R236a2bdc0fe546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d104e8f0c74d6b" /><Relationship Type="http://schemas.openxmlformats.org/officeDocument/2006/relationships/notesSlide" Target="/ppt/notesSlides/notesSlide9.xml" Id="Rf244bb75ada84e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6581534e5d4455" /><Relationship Type="http://schemas.openxmlformats.org/officeDocument/2006/relationships/image" Target="/ppt/media/image6.png" Id="R5167ecf903b04717" /><Relationship Type="http://schemas.openxmlformats.org/officeDocument/2006/relationships/notesSlide" Target="/ppt/notesSlides/notesSlide10.xml" Id="R241821de1a1f474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1c683255b443ef" /><Relationship Type="http://schemas.openxmlformats.org/officeDocument/2006/relationships/notesSlide" Target="/ppt/notesSlides/notesSlide11.xml" Id="R3570a1a2a7964c0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A0A00E-34CC-48F7-BDD9-97AD8D76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280E77-8D11-4137-8D22-6AEE1184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EF99E-DA06-401E-91C2-73D38685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0F3EE-F9C6-4E70-8AEF-71B7596F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54DEB-1E92-48E0-8D2D-D0A321A8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C9F7D5C-8AA6-4653-8862-311162D9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01CEA9D-8EF8-49E2-83DE-AED25DA6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BIG PICTURE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94AA6-BD89-4CB4-A3C6-601152E8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990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We turned the Home Credit project into a production-ready ML system.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DAE76-2A97-4D0F-9DCA-9096A122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Home Credit Risk MLOps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A2E0E-3369-4F44-898B-6C815D394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666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github.com/QingyuanWang-Data/INSY684_Group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9B59A-AD62-4EA2-81A4-E6065CE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669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8F4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77D90-3CC1-48C8-9A20-1DCD7E8E5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336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Presentation deck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986CC0-AF91-4C1D-815E-293E6A47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8A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B4B751-262A-4453-A611-C8E04749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336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Team + GitHub IDs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553F9-22D9-4475-8DAD-C2F20F65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241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15A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1F93F8-C352-4192-91FB-F5F88D3A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90825"/>
            <a:ext cx="1333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Repository named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F0F060-ABDA-49E8-85B4-22B53921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57A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44E1F-7B2F-4876-BC04-03B992E9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908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Evidence committed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225EF-E50C-4C32-B3F4-634C65E8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0.7644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7B604-C44F-455B-8757-99B116296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test ROC-AUC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F1095D-2A7A-43D6-AE7E-DEA84F87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8145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879827-F7BA-47C8-BD23-6FAD6E1C2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4820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best tuned validation ROC-AUC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080D97-B83A-462E-BE40-6E95E837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95E518-F09E-4C37-B1BB-FFF2D641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engineered features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1A1CF7C-9C6C-492B-A4F2-B7E68F0A5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8145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1F0323-B0EE-4428-A744-5D543237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64820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sampled final-eval 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479360-A796-4604-8A24-8D820695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Course 5.9 expectation: document what we did, highlight the big picture first, and explain business objective fit.</a:t>
            </a:r>
          </a:p>
        </p:txBody>
      </p:sp>
    </p:spTree>
    <p:extLst>
      <p:ext uri="{BB962C8B-B14F-4D97-AF65-F5344CB8AC3E}">
        <p14:creationId xmlns:p14="http://schemas.microsoft.com/office/powerpoint/2010/main" val="10917904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DB73C2-4473-43B9-83A1-676A6F61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0B472-180A-491D-98D1-D42C5D5E4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19C627-7E84-4CA7-B350-4E95CC77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39380-CDF5-430C-86B1-8F0F002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2C650-041A-4935-858C-764F2F32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0FECDED-EC9E-495B-B6F4-9F18E8C2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FCAB02F-1681-48CC-BE30-A6D0ABAA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SUBMISSION REQUIREMENTS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E24CD-9C19-4107-894C-59B09AB8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Everything the LMS asks for is visible before the technical deep dive.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D924A2-47C3-48D2-843D-9D17202C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27F122-2B15-474C-A0DA-76366663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426C53-D19D-4ADE-AE3D-38EC51E2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this PPTX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D2EFA-9092-4069-863C-648E219F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ADD107-FADC-4CDE-BD5F-E6209CBA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FDB9C-EC9C-466F-A42C-AA453865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Home Credit Risk MLOps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C1D1E-A967-42F9-915A-C4E74542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90750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C5A7E-7DEC-4A49-B324-BDD9E2DF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431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GitHub IDs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CBBFBF-7FEA-4BD0-9555-506554A5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4795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4 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91E122-3041-4474-AB18-6BF95F73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52DE5-04D0-45D2-8D78-D1AF85281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5E16B4-142F-4139-B4F4-1AE198AC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INSY684_Group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89FCD4-4191-4C77-B1DB-53250607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A73523-9D90-43D9-A95E-E69CB4EF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Dataset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F7C3BF-3832-4234-84AA-A0AA0327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Home Credit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CBA50-59C9-40B6-93C8-446E7A4F9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81375"/>
            <a:ext cx="2857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CB12DA-6128-4445-949D-87BEC8FA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33775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GitHub work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30B508-E626-49D5-8EB5-60164182B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38575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branch 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57B945-E4AC-44E8-8593-BF5188A4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8A8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EF8603-FAF7-4088-9879-0813B5F4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24425"/>
            <a:ext cx="7048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QingyuanWang-Data | Hankpapa | xuechen-17 | yasmminee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24421C-3F78-4502-8C8C-516CE8EB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teammate submits; repository evidence is already pushed and synchronized.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F93B36-C2E9-496C-9869-3F0452B1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docs/SUBMISSION_INFO.md and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127770323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44F2E5-A46A-4BF2-8443-3B1B6F21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18E0D1-CF85-40C1-BEBD-759992CD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C363E-A735-4D76-9F1F-D407CDD4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65CE8-BE24-44CF-9F01-B912E486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EB7FE-992F-438D-9EDF-DE869C47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C507892-8030-484D-85D3-111D366A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C38DA1B5-5132-4D9D-8419-6EAEBDB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5.9.1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CAA681-C7ED-4008-8883-3CE96683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42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business problem is ranking default risk before a credit decision is made.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08BFC9-3EAD-4730-9D01-59AF034B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38375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BF5B49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BF5B49"/>
                </a:solidFill>
                <a:latin typeface="Aptos Display"/>
                <a:ea typeface="Aptos Display"/>
                <a:cs typeface="Aptos Display"/>
              </a:rPr>
              <a:t>8.0%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71EA8F-A769-445D-A085-6E9BD58F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default-positive rate in sampled run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B44828-F70E-47F8-B987-E07708EB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38375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50,000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343728-81AB-41DD-A11B-20E5406F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051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applications in fresh experiment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F37367-DBFF-48C8-A748-C541AB91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38375"/>
            <a:ext cx="2857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180EEA-7B3E-4E0C-A19D-692B6996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05125"/>
            <a:ext cx="285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signals after multi-table aggregation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D1747-9897-46C9-8FFB-A851EF2F1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38625"/>
            <a:ext cx="9810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2FDDE-74CD-4F7B-A2A2-298AF4AD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1197F-FCB4-4DDC-86DF-D58A8EF6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57700"/>
            <a:ext cx="864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Objective: prioritize high-risk applications so policy teams can manage default cost and approval tradeoffs.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B0EAED-7D5B-4031-BEF2-C9AA5BD5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91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73256-EA36-41B8-ADAA-21C80DB9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95850"/>
            <a:ext cx="8648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Stakeholders: risk managers, product managers, analysts, and ML engineers need one explainable serving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81759B-0265-41F3-B5D7-3C50EC76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docs/BUSINESS_CONTEXT.md, docs/DATA_REPORT.md,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19969976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3A8A56-E493-4E39-94A1-22D972E4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12E64-8081-4785-9B9C-9ED63497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AB028-47DC-4C39-A45A-5A81CBB0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5A5AA-D863-40AA-BB55-83C6AAB4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945B7-1DDF-451D-AC5F-9CECFBF1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1C973D87-4AB1-46A5-9D52-5543C9FE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EECA029-1EB7-478F-A99A-6CAE6FA1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5.9.2 HYPOTHESIS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257894-35F9-4E22-8000-EC021D07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00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 supervised ranking model should beat random approval decisions and support threshold policy.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0D332-E57E-4F07-AF7A-4FBE46A6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84E419-833A-44A3-9E31-BD47CAED8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4476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38F56-5CDF-430F-9C77-C28C53F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19375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Null hypothesis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0DD3B3-2AF2-4FD0-8E83-C87906E7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43250"/>
            <a:ext cx="342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model cannot rank default risk better than random assignment.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12750C-C3F1-428B-B396-1EF013EB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814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F5B4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C82DC0-445B-4783-A70B-1CBB69EE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481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ROC-AUC &lt;= 0.50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0786F-C71C-43F4-A30F-66CDE2FA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19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Working hypothesis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AA0746-E8C7-4835-8073-6259CD48B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3714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Aggregated credit history improves risk ordering and supports lower-cost threshold decisions.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11CE3-603E-4823-A6B1-A0823EDD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F8F4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34672-3A20-4F06-87A8-4CCC33D9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62425"/>
            <a:ext cx="1524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ROC-AUC &gt; 0.50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BE9E73-56C3-47A4-A490-6999BD6AC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Testing strategy: stratified splits, validation AUC, PR-AUC, confusion matrix, and threshold cost curves.</a:t>
            </a:r>
          </a:p>
        </p:txBody>
      </p:sp>
    </p:spTree>
    <p:extLst>
      <p:ext uri="{BB962C8B-B14F-4D97-AF65-F5344CB8AC3E}">
        <p14:creationId xmlns:p14="http://schemas.microsoft.com/office/powerpoint/2010/main" val="12646435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BA93DE-0502-418E-BE4E-08AC7670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B2E498-2394-4BF3-8B80-6E0E79AF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3D2A7-04A5-41BC-9A5E-5434D137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0C238-C411-4373-B48F-6A063ED2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6350FD-DC67-4676-ADE8-B007C500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4D56902-A5D3-42D5-824D-0477F84B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B9441538-33F9-4472-80EC-17F65612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5.9.3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75995-C562-4804-BB72-C0F44A5F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Eight raw Home Credit files are compressed into applicant-level risk signals.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A07B00-640A-4EAD-AE60-31DC27159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7AA32-CA65-49E6-AE38-FCEE2DF5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Raw tables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FE6E4-BAD1-4F0B-863E-F8796AD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application, bureau, previous, POS, installments, cards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18BE1-C933-4E2F-9DD5-72EF31FEC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9D3FE-B20F-4758-A97F-67659045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A94C52-847C-42B7-A365-8AEA8F77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Aggregates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29180B-8F23-4018-A69B-6DE7ADC28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mean, max, min, sum, std, counts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EA06A-B13C-4024-83A9-7D7D0421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7A1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5B8526-0A08-438C-B63E-829369A3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28875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9A64C9-1AF3-4621-989A-CC68F8E9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14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Training frame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6BBD3D-9F50-4384-8BEB-3E4F77B00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62300"/>
            <a:ext cx="2190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one applicant row with target and features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8433D-C422-4366-B2E8-E3D8A057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450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8A7217-1663-46E0-8B16-5DBCC34C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feature count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EF3BAA-27BC-468E-BD0D-B82F2C3F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62500"/>
            <a:ext cx="2952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35k / 10k / 5k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7EEFD5-C046-43D2-B304-0501267A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429250"/>
            <a:ext cx="295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train / validation /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40690-373C-46EF-809B-864B919E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10125"/>
            <a:ext cx="304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ID columns are normalized before joins, which fixed the pandas merge error and strengthens reproducibility.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2BC4B7-B0E5-4609-83C5-E72A18D1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src/homecredit_service/features.py and artifacts/training_report.json.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1942447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D66917-9E9F-4B2A-93A8-812747DC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95E5B-A82A-4146-96AC-AB3461B1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72DDE2-4641-4805-BE99-7DE296CF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C0114B-24CB-418D-A9B6-CB23871E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55C39-E539-4BCB-9061-4F621A87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F9AB99F-F771-4057-9A5B-59A4D08E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BE536CE-E2DB-4F49-BF9A-8725646B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5.9.4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65600-F701-45AC-8F51-FBA3DD30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LightGBM gives strong ranking performance; Optuna shows tuning work was real.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0516fb651e4055"/>
          <a:stretch xmlns:a="http://schemas.openxmlformats.org/drawingml/2006/main"/>
        </p:blipFill>
        <p:spPr>
          <a:xfrm xmlns:a="http://schemas.openxmlformats.org/drawingml/2006/main">
            <a:off x="590550" y="2452688"/>
            <a:ext cx="5143500" cy="2571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93120-E578-489A-BF57-49789D3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38375"/>
            <a:ext cx="2667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0.7619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0C8DA-7280-4312-84EF-1415CA00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05125"/>
            <a:ext cx="2667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fresh validation ROC-AUC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C9E1A-0EED-4B91-847C-2CA60AEA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0.7679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3AE244-65EC-40B4-8250-F1326B9A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051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best Optuna validation ROC-AUC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CBD53-B4F2-4A3D-ADC3-08393669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095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type: supervised binary classification with class imbalance handling, threshold optimization, and MLflow run tracking.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A1EB17-E768-465B-ACF1-7FF8BB1E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artifacts/plots/train_validation_learning_curve.png, artifacts/tuning_report.json.</a:t>
            </a:r>
          </a:p>
        </p:txBody>
      </p:sp>
    </p:spTree>
    <p:extLst>
      <p:ext uri="{BB962C8B-B14F-4D97-AF65-F5344CB8AC3E}">
        <p14:creationId xmlns:p14="http://schemas.microsoft.com/office/powerpoint/2010/main" val="20866891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F795DC-3034-4907-9CA0-9EF2A718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71A10B-B1B9-4DE1-A4F8-D2694C2EA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64A71-9897-48A6-B98C-5504A6F4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7ED54D-59D1-41E7-A696-7138329A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98D5C-E537-4923-AF4C-3E50FEAB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18FD341-6109-4C20-9311-595DF2060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5A184271-1AA9-42B9-8DCD-5E781152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5.9.5 RESULTS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08B8C-FDD3-4A35-96D5-437ADD6F6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525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model beats random ranking and exposes the cost of different thresholds.</a:t>
            </a:r>
          </a:p>
        </p:txBody>
      </p:sp>
      <p:pic>
        <p:nvPicPr>
          <p:cNvPr id="28" name="" hidden="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67611d7b324280"/>
          <a:stretch xmlns:a="http://schemas.openxmlformats.org/drawingml/2006/main"/>
        </p:blipFill>
        <p:spPr>
          <a:xfrm xmlns:a="http://schemas.openxmlformats.org/drawingml/2006/main">
            <a:off x="714375" y="2190750"/>
            <a:ext cx="3429000" cy="2857500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1de792c523478d"/>
          <a:stretch xmlns:a="http://schemas.openxmlformats.org/drawingml/2006/main"/>
        </p:blipFill>
        <p:spPr>
          <a:xfrm xmlns:a="http://schemas.openxmlformats.org/drawingml/2006/main">
            <a:off x="4857750" y="2458641"/>
            <a:ext cx="3714750" cy="232171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E9F3C-538A-4A13-B6F1-A9EBBB8C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76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0.7644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781AFA-CD14-41A2-A48A-34D94178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final test ROC-AUC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B0C0C-34F3-4007-A37B-A388E981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168A8A"/>
                </a:solidFill>
                <a:latin typeface="Aptos Display"/>
                <a:ea typeface="Aptos Display"/>
                <a:cs typeface="Aptos Display"/>
              </a:rPr>
              <a:t>0.2309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E7F87-CB34-4E9A-8074-61FDB9C6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test PR-AUC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DB6F02-65A4-4C47-8034-14DD8144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933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result is not just a score; it becomes a policy lever for approval, decline, and review decisions.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8FCD15-5956-48DE-827F-78F38A19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validation_confusion_matrix.png, cost_sensitivity_threshold_curve.png, training_report.json.</a:t>
            </a:r>
          </a:p>
        </p:txBody>
      </p:sp>
      <p:pic>
        <p:nvPicPr>
          <p:cNvPr id="36" name="" hidden="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cbbb75955482a"/>
          <a:stretch xmlns:a="http://schemas.openxmlformats.org/drawingml/2006/main"/>
        </p:blipFill>
        <p:spPr>
          <a:xfrm xmlns:a="http://schemas.openxmlformats.org/drawingml/2006/main">
            <a:off x="0" y="0"/>
            <a:ext cx="914400" cy="914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67867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15FF21-9EAA-41AB-9E7B-10C7B1F0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0FFBB-E179-4570-BD6B-FF4BBB51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CB202-DC56-44BD-AD64-B4E5CADF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8C96D-71CA-43A9-9E20-A805661C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1AC465-A7E7-438A-8355-B67728CB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1F8408A-D16E-4A0B-BA3C-1DDD960C0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A12D63C8-9A94-4BFD-A151-053F95061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5.9.6 EXPLAINABILITY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09555-45A6-4A32-832E-8F9362A78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Feature importance turns the model into a reviewable risk-ranking tool.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8a5f20fc04873"/>
          <a:stretch xmlns:a="http://schemas.openxmlformats.org/drawingml/2006/main"/>
        </p:blipFill>
        <p:spPr>
          <a:xfrm xmlns:a="http://schemas.openxmlformats.org/drawingml/2006/main">
            <a:off x="666750" y="2094940"/>
            <a:ext cx="5905500" cy="333487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489ADE-AE9C-48B9-85AC-FB6B3F86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860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What to say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834D2-AA1F-4D4A-8781-F9065BF6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The strongest signals come from engineered financial and historical-credit features. We use global importance for model review, not as a causal claim.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F1F9C-676E-40CC-BE7D-621037A1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476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Governance use: review surprising drivers, monitor drift in top features, and document limits in the model card.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EBE767-1646-47C1-8D3E-AEE31968B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artifacts/plots/top10_feature_importance.png and docs/EXPLAINABILITY.md.</a:t>
            </a:r>
          </a:p>
        </p:txBody>
      </p:sp>
    </p:spTree>
    <p:extLst>
      <p:ext uri="{BB962C8B-B14F-4D97-AF65-F5344CB8AC3E}">
        <p14:creationId xmlns:p14="http://schemas.microsoft.com/office/powerpoint/2010/main" val="15355823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0BDC2B-F04D-4811-9AA8-BB1891A4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5CFF8-EDC9-4B78-AB47-045BDF69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2C6F7A-7937-475E-85C8-BFB5F029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AC4537-DE92-4D52-AD04-B644FA84E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53D426-6189-4030-A99A-B18FC259E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2610B6A-9C04-4C1E-AA14-168AFEFC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EC32733-BA6E-47C2-B111-88FBD634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5.9.7 THREATS TO VALIDITY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966B5-5567-4BEB-AE42-56665DDC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main risks are data leakage, historical bias, and production drift.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A27CC7-11FF-4174-9F7F-671C60C4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E4BC-D9DD-4C69-9BFC-8707F31A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BF5B49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BF5B49"/>
                </a:solidFill>
                <a:latin typeface="Aptos"/>
                <a:ea typeface="Aptos"/>
                <a:cs typeface="Aptos"/>
              </a:rPr>
              <a:t>Leakage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5E0919-6B92-487B-92FD-707AF485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Historical tables may contain timing patterns that need careful event-time cutoffs.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48B4C9-6043-4842-A146-E5D15830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0B9E9C-A96D-4BB7-97C7-5BE4AAE1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Bias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B69BF2-528D-40CE-9F8F-C94DCF43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Credit outcomes reflect previous lending policy, not a neutral ground truth.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B9FB26-ED90-43F4-A726-8E24231B8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428875"/>
            <a:ext cx="27622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B"/>
          </a:solidFill>
          <a:ln xmlns:a="http://schemas.openxmlformats.org/drawingml/2006/main" w="9525">
            <a:solidFill>
              <a:srgbClr val="DCE4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8EF4-58A7-42A9-933E-706FBE7D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7813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6E5AA8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6E5AA8"/>
                </a:solidFill>
                <a:latin typeface="Aptos"/>
                <a:ea typeface="Aptos"/>
                <a:cs typeface="Aptos"/>
              </a:rPr>
              <a:t>Drift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21632D-2AC9-4B9D-A50E-7C85133E2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333750"/>
            <a:ext cx="2190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Applicant mix and macro conditions can change after launch.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EFA0F-C8BE-4E6C-8BA0-DF846904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00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995164-0A49-4AEF-9F9C-F7E8A4A0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4905375"/>
            <a:ext cx="8743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Mitigation: model card, fairness report, monitoring report, PSI drift checks, and future retraining workflow.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D22CB-B2F6-4405-B0CB-D7A89B234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docs/LIMITATIONS.md, docs/FAIRNESS.md, docs/MONITORING.md.</a:t>
            </a:r>
          </a:p>
        </p:txBody>
      </p:sp>
    </p:spTree>
    <p:extLst>
      <p:ext uri="{BB962C8B-B14F-4D97-AF65-F5344CB8AC3E}">
        <p14:creationId xmlns:p14="http://schemas.microsoft.com/office/powerpoint/2010/main" val="98956163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FBBF547-C422-4F28-9CAD-369454C2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131FA-6814-4F16-9141-C798FCE32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C79ED9-04F6-4CA2-B05C-82BB3BBD5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BAD4F-6995-4A3B-8CFD-1277F62E3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0693D-5289-495E-A107-68ADA2F8B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D2CB0515-1DE9-4185-9A54-19F82AEC3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65FBDA7-A2EB-4BE3-9E7B-A2800659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5.10 LAUNCHING, MONITORING, MAINTENANCE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25EB7-23BB-4B90-83D8-D2D3F018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serving contract is ready; monitoring tells us when to intervene.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7ecf903b04717"/>
          <a:stretch xmlns:a="http://schemas.openxmlformats.org/drawingml/2006/main"/>
        </p:blipFill>
        <p:spPr>
          <a:xfrm xmlns:a="http://schemas.openxmlformats.org/drawingml/2006/main">
            <a:off x="1052513" y="2076450"/>
            <a:ext cx="3286125" cy="328612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2F09D-2AFE-4F23-872A-2FE45443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3336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15AA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15AA6"/>
                </a:solidFill>
                <a:latin typeface="Aptos"/>
                <a:ea typeface="Aptos"/>
                <a:cs typeface="Aptos"/>
              </a:rPr>
              <a:t>Launch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F52D6-D77C-4AB5-95E2-DC27E7DE4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77177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Docker + FastAPI + /ready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975A8-00C3-456F-8B9A-65713BD7C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E18C3E-C645-4D75-8526-3BBD5778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7177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AUC, PR-AUC, PSI, feature drift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648B46-B838-429A-ABD2-5A8A7441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952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F8F4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2F8F46"/>
                </a:solidFill>
                <a:latin typeface="Aptos"/>
                <a:ea typeface="Aptos"/>
                <a:cs typeface="Aptos"/>
              </a:rPr>
              <a:t>Maintain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8C4CA-1DDA-4C1E-8815-F98496AB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9102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retrain on fresh data; review fairness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2D3B3C-A1B8-4A4B-90A8-431548DC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52875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C57A1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C57A16"/>
                </a:solidFill>
                <a:latin typeface="Aptos"/>
                <a:ea typeface="Aptos"/>
                <a:cs typeface="Aptos"/>
              </a:rPr>
              <a:t>Govern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F9325A-99B6-4B5D-814D-F9A9A65B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91025"/>
            <a:ext cx="2333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model card and threshold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D2616-580F-4700-953C-317FA312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Evidence: docs/DEPLOYMENT.md and docs/MONITORING.md.</a:t>
            </a:r>
          </a:p>
        </p:txBody>
      </p:sp>
    </p:spTree>
    <p:extLst>
      <p:ext uri="{BB962C8B-B14F-4D97-AF65-F5344CB8AC3E}">
        <p14:creationId xmlns:p14="http://schemas.microsoft.com/office/powerpoint/2010/main" val="6199392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D3E800-9650-4790-ADA3-7B34EBE6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B3AD3-6569-4846-B170-DDC0138F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5A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EF4B7-4087-4D94-8F36-D0500AD25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1912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5A94D-E762-4F02-8AD6-C104FADC5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627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INSY684 FINAL PRESENTATION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992FD3-8D14-4FFC-9BA9-2D7CDD70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24600"/>
            <a:ext cx="533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D667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97B64EB-DB81-4B53-9641-D187C82C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"/>
            <a:ext cx="323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D83E8EA-2648-4214-A9FC-6D355A532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"/>
            <a:ext cx="685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68A8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8A8A"/>
                </a:solidFill>
                <a:latin typeface="Aptos"/>
                <a:ea typeface="Aptos"/>
                <a:cs typeface="Aptos"/>
              </a:rPr>
              <a:t>5.9.8-5.9.9 CONCLUSIONS AND LESSONS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D316DC-85DF-4B2E-97F4-9FF80CA15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971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22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The project is valuable because it connects model performance to operating discipline.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35087-2A22-4BBF-9754-1881B878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095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15AA6"/>
                </a:solidFill>
                <a:latin typeface="Aptos Display"/>
                <a:ea typeface="Aptos Display"/>
                <a:cs typeface="Aptos Display"/>
              </a:rPr>
              <a:t>Built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6A532-5707-46A4-B278-7E0560E5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209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package, tests, CI, Docker,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AC8202-5E20-4A5D-813B-E36095E8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76500"/>
            <a:ext cx="2571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F8F46"/>
                </a:solidFill>
                <a:latin typeface="Aptos Display"/>
                <a:ea typeface="Aptos Display"/>
                <a:cs typeface="Aptos Display"/>
              </a:rPr>
              <a:t>Tracked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6785B-32FB-4E05-AA6C-1EE6C142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1432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MLflow and Optuna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B0BBF-F9AF-42AE-80B7-BAD37609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76500"/>
            <a:ext cx="247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C57A16"/>
                </a:solidFill>
                <a:latin typeface="Aptos Display"/>
                <a:ea typeface="Aptos Display"/>
                <a:cs typeface="Aptos Display"/>
              </a:rPr>
              <a:t>Governed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940EE-68C8-4C40-8F4C-41E783A4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fairness, drift, model card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24EA91-D5FB-4C92-A3B4-4D6BDFF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572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8F4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C8AD63-4BE1-4062-887A-2D79FC1A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476750"/>
            <a:ext cx="9124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Recommendation: present 0.7644 as final test ROC-AUC, with 0.7619 validation ROC-AUC and 0.7679 tuning evidence.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44A3BD-11A2-41B3-B8A8-77FA83DC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67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816A4-02E5-43D7-A1CB-F715A68A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972050"/>
            <a:ext cx="9124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Lesson learned: production ML depends as much on reproducibility, monitoring, and clear limits as on one metric.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C02F5F-8584-4ED2-868E-D44BB662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28575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Next step for group deck: add formal course title slide and speaker assignments.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95A939-B71E-4989-A690-730BE321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5D6673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673"/>
                </a:solidFill>
                <a:latin typeface="Aptos"/>
                <a:ea typeface="Aptos"/>
                <a:cs typeface="Aptos"/>
              </a:rPr>
              <a:t>Evidence package committed to GitHub branch code.</a:t>
            </a:r>
          </a:p>
        </p:txBody>
      </p:sp>
    </p:spTree>
    <p:extLst>
      <p:ext uri="{BB962C8B-B14F-4D97-AF65-F5344CB8AC3E}">
        <p14:creationId xmlns:p14="http://schemas.microsoft.com/office/powerpoint/2010/main" val="21392634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2026-06-21T16:43:02.1940000Z</dcterms:created>
  <dcterms:modified xsi:type="dcterms:W3CDTF">2026-06-21T16:43:02.1940000Z</dcterms:modified>
</coreProperties>
</file>
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0094ec2f6a4f8c" /><Relationship Type="http://schemas.openxmlformats.org/officeDocument/2006/relationships/extended-properties" Target="/docProps/app.xml" Id="Re3629821320b4062" /><Relationship Type="http://schemas.openxmlformats.org/officeDocument/2006/relationships/officeDocument" Target="/ppt/presentation.xml" Id="R851d7a95fcde45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b014bc27ec4c26"/>
  </p:sldMasterIdLst>
  <p:notesMasterIdLst>
    <p:notesMasterId xmlns:r="http://schemas.openxmlformats.org/officeDocument/2006/relationships" r:id="R433bc58132e045f6"/>
  </p:notesMasterIdLst>
  <p:sldIdLst>
    <p:sldId xmlns:r="http://schemas.openxmlformats.org/officeDocument/2006/relationships" id="256" r:id="R2bf2191b12884ad7"/>
    <p:sldId xmlns:r="http://schemas.openxmlformats.org/officeDocument/2006/relationships" id="257" r:id="Rfa253d291ec248ce"/>
    <p:sldId xmlns:r="http://schemas.openxmlformats.org/officeDocument/2006/relationships" id="258" r:id="R6449042186764d6a"/>
    <p:sldId xmlns:r="http://schemas.openxmlformats.org/officeDocument/2006/relationships" id="259" r:id="R8827a63d68394973"/>
    <p:sldId xmlns:r="http://schemas.openxmlformats.org/officeDocument/2006/relationships" id="260" r:id="Rd5fbea131b0f48f6"/>
    <p:sldId xmlns:r="http://schemas.openxmlformats.org/officeDocument/2006/relationships" id="261" r:id="Ra5048a77d72848de"/>
    <p:sldId xmlns:r="http://schemas.openxmlformats.org/officeDocument/2006/relationships" id="262" r:id="R1e78e3f8f8b2463f"/>
    <p:sldId xmlns:r="http://schemas.openxmlformats.org/officeDocument/2006/relationships" id="263" r:id="Rd9e515c5466c488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695a6fbf5a4833" /><Relationship Type="http://schemas.openxmlformats.org/officeDocument/2006/relationships/slideMaster" Target="/ppt/slideMasters/slideMaster1.xml" Id="Rebb014bc27ec4c26" /><Relationship Type="http://schemas.openxmlformats.org/officeDocument/2006/relationships/notesMaster" Target="/ppt/notesMasters/notesMaster1.xml" Id="R433bc58132e045f6" /><Relationship Type="http://schemas.openxmlformats.org/officeDocument/2006/relationships/presProps" Target="/ppt/presProps.xml" Id="R69884357bd6c41fb" /><Relationship Type="http://schemas.openxmlformats.org/officeDocument/2006/relationships/viewProps" Target="/ppt/viewProps.xml" Id="R3b9e9e23a838490a" /><Relationship Type="http://schemas.openxmlformats.org/officeDocument/2006/relationships/tableStyles" Target="/ppt/tableStyles.xml" Id="R7803c90c39494afd" /><Relationship Type="http://schemas.openxmlformats.org/officeDocument/2006/relationships/slide" Target="/ppt/slides/slide1.xml" Id="R2bf2191b12884ad7" /><Relationship Type="http://schemas.openxmlformats.org/officeDocument/2006/relationships/slide" Target="/ppt/slides/slide2.xml" Id="Rfa253d291ec248ce" /><Relationship Type="http://schemas.openxmlformats.org/officeDocument/2006/relationships/slide" Target="/ppt/slides/slide3.xml" Id="R6449042186764d6a" /><Relationship Type="http://schemas.openxmlformats.org/officeDocument/2006/relationships/slide" Target="/ppt/slides/slide4.xml" Id="R8827a63d68394973" /><Relationship Type="http://schemas.openxmlformats.org/officeDocument/2006/relationships/slide" Target="/ppt/slides/slide5.xml" Id="Rd5fbea131b0f48f6" /><Relationship Type="http://schemas.openxmlformats.org/officeDocument/2006/relationships/slide" Target="/ppt/slides/slide6.xml" Id="Ra5048a77d72848de" /><Relationship Type="http://schemas.openxmlformats.org/officeDocument/2006/relationships/slide" Target="/ppt/slides/slide7.xml" Id="R1e78e3f8f8b2463f" /><Relationship Type="http://schemas.openxmlformats.org/officeDocument/2006/relationships/slide" Target="/ppt/slides/slide8.xml" Id="Rd9e515c5466c48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c1452420cf4d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4b9d620d9645c3" /><Relationship Type="http://schemas.openxmlformats.org/officeDocument/2006/relationships/notesMaster" Target="/ppt/notesMasters/notesMaster1.xml" Id="R3ba618790dd047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29887c6a044c19" /><Relationship Type="http://schemas.openxmlformats.org/officeDocument/2006/relationships/notesMaster" Target="/ppt/notesMasters/notesMaster1.xml" Id="Rac93ddbc00294a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3a2aafdf9044fc" /><Relationship Type="http://schemas.openxmlformats.org/officeDocument/2006/relationships/notesMaster" Target="/ppt/notesMasters/notesMaster1.xml" Id="R9e984118030447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152fb023bc4f74" /><Relationship Type="http://schemas.openxmlformats.org/officeDocument/2006/relationships/notesMaster" Target="/ppt/notesMasters/notesMaster1.xml" Id="Rbc61f084323e43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1232770a634607" /><Relationship Type="http://schemas.openxmlformats.org/officeDocument/2006/relationships/notesMaster" Target="/ppt/notesMasters/notesMaster1.xml" Id="R2f85987271d04f8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e53441969f4b09" /><Relationship Type="http://schemas.openxmlformats.org/officeDocument/2006/relationships/notesMaster" Target="/ppt/notesMasters/notesMaster1.xml" Id="Rc5bd5e212b684b1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a9d5477b064ee4" /><Relationship Type="http://schemas.openxmlformats.org/officeDocument/2006/relationships/notesMaster" Target="/ppt/notesMasters/notesMaster1.xml" Id="Ra9a47d39e6e641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bd7a7c210840db" /><Relationship Type="http://schemas.openxmlformats.org/officeDocument/2006/relationships/notesMaster" Target="/ppt/notesMasters/notesMaster1.xml" Id="R54b17133626b4d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ad96c28f9c4e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8bf85b2b9c40e7" /><Relationship Type="http://schemas.openxmlformats.org/officeDocument/2006/relationships/slideLayout" Target="/ppt/slideLayouts/slideLayout1.xml" Id="R30f3aea94d5e41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f3aea94d5e41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1f36bd1554f46" /><Relationship Type="http://schemas.openxmlformats.org/officeDocument/2006/relationships/notesSlide" Target="/ppt/notesSlides/notesSlide1.xml" Id="Ra14f5551beee40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bb237b2ed94d3c" /><Relationship Type="http://schemas.openxmlformats.org/officeDocument/2006/relationships/notesSlide" Target="/ppt/notesSlides/notesSlide2.xml" Id="Rd1f7ef55a29144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aabb788734a74" /><Relationship Type="http://schemas.openxmlformats.org/officeDocument/2006/relationships/notesSlide" Target="/ppt/notesSlides/notesSlide3.xml" Id="Rdb39641f50114b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4c740ed8c44fa" /><Relationship Type="http://schemas.openxmlformats.org/officeDocument/2006/relationships/notesSlide" Target="/ppt/notesSlides/notesSlide4.xml" Id="R13bff5301b264f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9c4ad98ac46d0" /><Relationship Type="http://schemas.openxmlformats.org/officeDocument/2006/relationships/notesSlide" Target="/ppt/notesSlides/notesSlide5.xml" Id="Rf844a8a79db242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a3d5fc6684dde" /><Relationship Type="http://schemas.openxmlformats.org/officeDocument/2006/relationships/notesSlide" Target="/ppt/notesSlides/notesSlide6.xml" Id="Rb139dbbfed3d44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b197443f448d8" /><Relationship Type="http://schemas.openxmlformats.org/officeDocument/2006/relationships/notesSlide" Target="/ppt/notesSlides/notesSlide7.xml" Id="Racfe20635872416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8821fcc374de5" /><Relationship Type="http://schemas.openxmlformats.org/officeDocument/2006/relationships/notesSlide" Target="/ppt/notesSlides/notesSlide8.xml" Id="R3f0dc41a970346f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B1EF8D-BE45-4440-8B97-A4207F29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solidFill>
              <a:srgbClr val="1014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711DD-1F9C-464F-96DB-3630B615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INSY684 | Home Credit ML Production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6E76D-C93D-4C76-A7D4-4FCBED08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9E0F8-23F4-4923-8B54-0787300C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6C5F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6C5F0"/>
                </a:solidFill>
                <a:latin typeface="Aptos"/>
                <a:ea typeface="Aptos"/>
                <a:cs typeface="Aptos"/>
              </a:rPr>
              <a:t>INSY684 GROUP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6D2FA-5DEC-480F-B14B-178B6BC2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From classifier to production ML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279D0-7DCA-4375-954B-C2607833F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Home Credit default-risk scoring with reproducible training, service readiness, MLflow tracking, Optuna tuning, fairness review, and monitoring 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A872E-1D30-40A4-ADD3-4BB71436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11125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3844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7A7F2-B216-46D6-B649-0C571CDA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6E35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6E35C"/>
                </a:solidFill>
                <a:latin typeface="Aptos"/>
                <a:ea typeface="Aptos"/>
                <a:cs typeface="Aptos"/>
              </a:rPr>
              <a:t>0.7858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2DE81-E3E1-40F5-A176-666E36AA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held-out test ROC-AUC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F3278-4206-431E-9F08-96DE22E2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194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6C5F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6C5F0"/>
                </a:solidFill>
                <a:latin typeface="Aptos"/>
                <a:ea typeface="Aptos"/>
                <a:cs typeface="Aptos"/>
              </a:rPr>
              <a:t>450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C863B-D141-469C-A2FC-A5A325797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766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engineered feature columns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20204E-0704-40C7-BB1F-B8107B4E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194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6E35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6E35C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49C883-169C-473B-9E68-336F54A60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766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tests passing in uv quality gate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9EEE2-4146-46A7-A67F-3DF8010D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194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C54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5C54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50A57-FC9D-48A3-86DB-5D4C7E78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6766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generated governance reports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A4D9D3-9897-47E9-B33D-150CB12B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19450"/>
            <a:ext cx="171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7A5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7A5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64AF9-28C8-4CD1-91B9-50B546C3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766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Python versions in CI matrix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0986FF-369C-4D4E-8902-EDA225F5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36C5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56EBAC-6F01-4A6E-9B79-3B550B15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01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6C5F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36C5F0"/>
                </a:solidFill>
                <a:latin typeface="Aptos"/>
                <a:ea typeface="Aptos"/>
                <a:cs typeface="Aptos"/>
              </a:rPr>
              <a:t>FastAPI 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CA5351-8AA8-499C-9F03-FEDF33FF4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435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B6E3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DACCB1-F4E1-404A-A3D4-06D65F56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21017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B6E35C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B6E35C"/>
                </a:solidFill>
                <a:latin typeface="Aptos"/>
                <a:ea typeface="Aptos"/>
                <a:cs typeface="Aptos"/>
              </a:rPr>
              <a:t>Docker-ready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1C5855-8BA1-45D3-9EA8-FD4F15F1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14350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F5C54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DA16C0-2E96-48B4-A239-49BD7363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210175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5C54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5C542"/>
                </a:solidFill>
                <a:latin typeface="Aptos"/>
                <a:ea typeface="Aptos"/>
                <a:cs typeface="Aptos"/>
              </a:rPr>
              <a:t>MLflow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21EFBA-7AC5-4EAF-AE1B-2B5310BC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143500"/>
            <a:ext cx="91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F5C5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A07B08-195B-4010-B7C6-344B38A8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5210175"/>
            <a:ext cx="723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5C542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5C542"/>
                </a:solidFill>
                <a:latin typeface="Aptos"/>
                <a:ea typeface="Aptos"/>
                <a:cs typeface="Aptos"/>
              </a:rPr>
              <a:t>Optuna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30A136-501D-473D-8F47-BB960D1E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14350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FF7A5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7CAE4D-B7C7-47E6-9100-5E497A04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017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7A59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7A59"/>
                </a:solidFill>
                <a:latin typeface="Aptos"/>
                <a:ea typeface="Aptos"/>
                <a:cs typeface="Aptos"/>
              </a:rPr>
              <a:t>Fairness + drift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C3C514-CACD-429F-97A1-60425F9A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143500"/>
            <a:ext cx="1123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A33"/>
          </a:solidFill>
          <a:ln xmlns:a="http://schemas.openxmlformats.org/drawingml/2006/main" w="9525">
            <a:solidFill>
              <a:srgbClr val="36C5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F14B64-56ED-4865-A165-2652241C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210175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6C5F0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36C5F0"/>
                </a:solidFill>
                <a:latin typeface="Aptos"/>
                <a:ea typeface="Aptos"/>
                <a:cs typeface="Aptos"/>
              </a:rPr>
              <a:t>Model card</a:t>
            </a:r>
          </a:p>
        </p:txBody>
      </p:sp>
    </p:spTree>
    <p:extLst>
      <p:ext uri="{BB962C8B-B14F-4D97-AF65-F5344CB8AC3E}">
        <p14:creationId xmlns:p14="http://schemas.microsoft.com/office/powerpoint/2010/main" val="1697776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311DE3-2B80-4175-BD59-7175C044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solidFill>
              <a:srgbClr val="1014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0F218-A09B-4A5E-9619-F8F9D944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INSY684 | Home Credit ML Production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BB755-8920-4041-84B9-89C9D5F5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3707A-08A6-494B-AB41-4D3B5820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5F0"/>
          </a:solidFill>
          <a:ln xmlns:a="http://schemas.openxmlformats.org/drawingml/2006/main" w="0">
            <a:solidFill>
              <a:srgbClr val="36C5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D4BFD-64BE-4FD9-954B-516DE64D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36C5F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36C5F0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B6191-EF06-4D85-96BE-92185F97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The project separates data, model, service, and governance into clean modules.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BCE83-2E14-4B0F-B24F-03635DE0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Each layer is testable independently, which is the difference between a notebook result and a production-oriented ML submission.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00A72-0A8A-4DC0-A59D-C7B5EDDB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2362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36C5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C20C7-AF0A-4DAF-AD35-8ECC732F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C5F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6C5F0"/>
                </a:solidFill>
                <a:latin typeface="Aptos"/>
                <a:ea typeface="Aptos"/>
                <a:cs typeface="Aptos"/>
              </a:rPr>
              <a:t>Data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4F351-1664-40E2-B01B-BC3A806E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924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Kaggle raw tables</a:t>
            </a:r>
          </a:p>
          <a:p xmlns:a="http://schemas.openxmlformats.org/drawingml/2006/main">
            <a:pPr algn="l">
              <a:defRPr sz="1125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feature aggregation</a:t>
            </a:r>
          </a:p>
          <a:p xmlns:a="http://schemas.openxmlformats.org/drawingml/2006/main">
            <a:pPr algn="l">
              <a:defRPr sz="1125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leakage guards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2E2B8-C6BF-4CC9-A120-91EAF772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71750"/>
            <a:ext cx="2362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B6E3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F95A9-71A4-43E9-B3C6-1A7AA7B8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813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E35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E35C"/>
                </a:solidFill>
                <a:latin typeface="Aptos"/>
                <a:ea typeface="Aptos"/>
                <a:cs typeface="Aptos"/>
              </a:rPr>
              <a:t>Training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D50D0-CE72-4858-A535-EAC25E51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238500"/>
            <a:ext cx="1924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LightGBM</a:t>
            </a:r>
          </a:p>
          <a:p xmlns:a="http://schemas.openxmlformats.org/drawingml/2006/main">
            <a:pPr algn="l">
              <a:defRPr sz="1125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threshold policy</a:t>
            </a:r>
          </a:p>
          <a:p xmlns:a="http://schemas.openxmlformats.org/drawingml/2006/main">
            <a:pPr algn="l">
              <a:defRPr sz="1125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calibration + CV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2F090-0E7B-484F-95C6-3A89422C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362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F5C5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8CA2D9-B769-4A1C-84EA-09B4F2BC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C54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C542"/>
                </a:solidFill>
                <a:latin typeface="Aptos"/>
                <a:ea typeface="Aptos"/>
                <a:cs typeface="Aptos"/>
              </a:rPr>
              <a:t>Serving 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6F36F3-8A73-4270-A96E-73CC67D4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1924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FastAPI</a:t>
            </a:r>
          </a:p>
          <a:p xmlns:a="http://schemas.openxmlformats.org/drawingml/2006/main">
            <a:pPr algn="l">
              <a:defRPr sz="1125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/health + /ready</a:t>
            </a:r>
          </a:p>
          <a:p xmlns:a="http://schemas.openxmlformats.org/drawingml/2006/main">
            <a:pPr algn="l">
              <a:defRPr sz="1125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batch limits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E5BCA6-FFC6-491E-B40B-B0CBC0D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71750"/>
            <a:ext cx="23622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FF7A5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6EBD5D-D61C-4E21-A790-3DD011C6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8130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A5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7A59"/>
                </a:solidFill>
                <a:latin typeface="Aptos"/>
                <a:ea typeface="Aptos"/>
                <a:cs typeface="Aptos"/>
              </a:rPr>
              <a:t>Governance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557849-218E-40FF-987F-166E5A4E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238500"/>
            <a:ext cx="19240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MLflow + Optuna</a:t>
            </a:r>
          </a:p>
          <a:p xmlns:a="http://schemas.openxmlformats.org/drawingml/2006/main">
            <a:pPr algn="l">
              <a:defRPr sz="1125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fairness report</a:t>
            </a:r>
          </a:p>
          <a:p xmlns:a="http://schemas.openxmlformats.org/drawingml/2006/main">
            <a:pPr algn="l">
              <a:defRPr sz="1125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drift monitoring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7E692F-07E4-4B0D-BFF2-37B8A194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05200"/>
            <a:ext cx="3429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A8B1B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203925-9439-42F4-8515-445B68C6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05200"/>
            <a:ext cx="3429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A8B1B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20DE8-F482-4E30-BB85-60684F8D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05200"/>
            <a:ext cx="3429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A8B1B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143E76-478C-472B-9060-2D072197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src/homecredit_service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9C671C-754C-48C4-88D3-22B6696E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958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artifacts/*.json + docs/*.md are generated evidence, not hand-waved claims</a:t>
            </a:r>
          </a:p>
        </p:txBody>
      </p:sp>
    </p:spTree>
    <p:extLst>
      <p:ext uri="{BB962C8B-B14F-4D97-AF65-F5344CB8AC3E}">
        <p14:creationId xmlns:p14="http://schemas.microsoft.com/office/powerpoint/2010/main" val="422438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B860F7-89D2-4DDA-8ECB-12DD5B52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solidFill>
              <a:srgbClr val="1014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B1BCD-9FE5-45AD-8F63-8AD02507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INSY684 | Home Credit ML Production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86EB0-F7E0-4DB1-B27F-617E4218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62661-1603-4A7F-8A7A-E9351BD4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5F0"/>
          </a:solidFill>
          <a:ln xmlns:a="http://schemas.openxmlformats.org/drawingml/2006/main" w="0">
            <a:solidFill>
              <a:srgbClr val="36C5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192483-7692-4D57-857A-77C0DB7D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36C5F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36C5F0"/>
                </a:solidFill>
                <a:latin typeface="Aptos"/>
                <a:ea typeface="Aptos"/>
                <a:cs typeface="Aptos"/>
              </a:rPr>
              <a:t>MODEL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54DD1-A525-4405-9D5F-05829663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Performance is connected to an operating threshold, not reported as accuracy theater.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926CF-0496-4ECA-8CB6-D0AB2404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The model optimizes ranking quality and then translates probability scores into a cost-aware decision policy.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8BE4D-8AC9-490E-AB87-099D6A89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3844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E0435-6295-4D10-8F8F-5499BD5DF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670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6E35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6E35C"/>
                </a:solidFill>
                <a:latin typeface="Aptos"/>
                <a:ea typeface="Aptos"/>
                <a:cs typeface="Aptos"/>
              </a:rPr>
              <a:t>0.7844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AF64C4-EC34-456D-83A3-928948C5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242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validation ROC-AUC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5C5B8-8ABF-4411-B511-FDE193BF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180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6E35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6E35C"/>
                </a:solidFill>
                <a:latin typeface="Aptos"/>
                <a:ea typeface="Aptos"/>
                <a:cs typeface="Aptos"/>
              </a:rPr>
              <a:t>0.7858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6EC207-622B-4686-AD59-07E8C87D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3860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test ROC-AUC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3DA4BC-CE67-4966-87FB-D32B55D3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Random baseline = 0.5000; test lift = +0.2858 AUC points.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702AB9-4C21-452F-86CC-2F732329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24100"/>
            <a:ext cx="2952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3844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97A61-CA37-4099-ABB9-37CC186F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6670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C54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5C542"/>
                </a:solidFill>
                <a:latin typeface="Aptos"/>
                <a:ea typeface="Aptos"/>
                <a:cs typeface="Aptos"/>
              </a:rPr>
              <a:t>0.549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F1F71-BCEC-408F-BCFD-723D3FD7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242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selected decision threshold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78CE4-F863-4BD8-A06F-B53A0852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814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C54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5C542"/>
                </a:solidFill>
                <a:latin typeface="Aptos"/>
                <a:ea typeface="Aptos"/>
                <a:cs typeface="Aptos"/>
              </a:rPr>
              <a:t>0.3216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CCA5E5-0C89-4C9D-A370-4A045611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386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expected cost per applicant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8F41BE-3CD1-4D3B-B009-0C04CC48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767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Threshold selected on validation set using FP/FN business cost weights.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9AEBA-C77D-442B-BAF8-53F57C99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3844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CE2071-A05B-4A1E-A812-40E892D2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670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6C5F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6C5F0"/>
                </a:solidFill>
                <a:latin typeface="Aptos"/>
                <a:ea typeface="Aptos"/>
                <a:cs typeface="Aptos"/>
              </a:rPr>
              <a:t>0.2793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6F0681-5886-43CE-B81F-D1B3A27E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242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validation PR-AUC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0454C4-DCD6-43CB-B9E7-2F5100F3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8140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6C5F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6C5F0"/>
                </a:solidFill>
                <a:latin typeface="Aptos"/>
                <a:ea typeface="Aptos"/>
                <a:cs typeface="Aptos"/>
              </a:rPr>
              <a:t>0.1853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028CDC-DCF3-466F-A1D5-FDDB7F0D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386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validation Brier score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72D9C3-DC93-4014-B271-A2238F2B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76750"/>
            <a:ext cx="219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Calibration diagnostics are exported as CSV and plotted artifacts.</a:t>
            </a:r>
          </a:p>
        </p:txBody>
      </p:sp>
    </p:spTree>
    <p:extLst>
      <p:ext uri="{BB962C8B-B14F-4D97-AF65-F5344CB8AC3E}">
        <p14:creationId xmlns:p14="http://schemas.microsoft.com/office/powerpoint/2010/main" val="17804630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DF9FC2-A31B-4159-9F51-A015E9E8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solidFill>
              <a:srgbClr val="1014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9A97B-1073-444C-B45A-0512AF87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INSY684 | Home Credit ML Production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FD53C-8A68-45DE-9E9F-10139AFF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5CC54-9882-4338-AAC3-2A7B2876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5F0"/>
          </a:solidFill>
          <a:ln xmlns:a="http://schemas.openxmlformats.org/drawingml/2006/main" w="0">
            <a:solidFill>
              <a:srgbClr val="36C5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1FF95-6D42-4FAD-AF7A-F982DCD5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36C5F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36C5F0"/>
                </a:solidFill>
                <a:latin typeface="Aptos"/>
                <a:ea typeface="Aptos"/>
                <a:cs typeface="Aptos"/>
              </a:rPr>
              <a:t>SERVING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C1A2B-AC2A-4152-9247-E0908CFA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The API is designed to fail safely before it serves predictions.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35770-7777-4DE1-8A9F-6C5E2844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Typed schemas, readiness checks, and bounded batch requests give the service production-like behavior.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34301-B517-4411-93E6-54BAD857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36C5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B2B6EF-134A-4701-82AD-729A8252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C5F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6C5F0"/>
                </a:solidFill>
                <a:latin typeface="Aptos"/>
                <a:ea typeface="Aptos"/>
                <a:cs typeface="Aptos"/>
              </a:rPr>
              <a:t>/health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CB6A9-B158-4FE8-915B-B4F953E0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384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liveness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2C117-A5F4-42D4-A8D6-8E705BB8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38400"/>
            <a:ext cx="485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returns ok even if the model artifact is missing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08D68-7514-4362-9059-67E39727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B6E3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C52C7B-1CCA-4B91-962B-198ACD39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6E35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6E35C"/>
                </a:solidFill>
                <a:latin typeface="Aptos"/>
                <a:ea typeface="Aptos"/>
                <a:cs typeface="Aptos"/>
              </a:rPr>
              <a:t>/ready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A3753F-9F54-4B1A-A065-CBD37A57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194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readiness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5E6329-2F41-498E-8E25-EEC0063E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219450"/>
            <a:ext cx="485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503 until model artifact is loaded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83C1F8-F662-4722-B827-A54F3485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F5C5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1E7DAF-4510-4D73-86E6-EF3719F6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C54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C542"/>
                </a:solidFill>
                <a:latin typeface="Aptos"/>
                <a:ea typeface="Aptos"/>
                <a:cs typeface="Aptos"/>
              </a:rPr>
              <a:t>/predict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4364DF-E0C2-4E4E-88DC-FBAECAFE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005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single inference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51AD65-4BA2-4CFE-BF92-D6B5B7C5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00500"/>
            <a:ext cx="485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returns probability, decision, top contributors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A1CE17-5AFD-4322-891F-DED0639E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FF7A5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CF2361-F27A-466F-99BA-2199E257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815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7A5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7A59"/>
                </a:solidFill>
                <a:latin typeface="Aptos"/>
                <a:ea typeface="Aptos"/>
                <a:cs typeface="Aptos"/>
              </a:rPr>
              <a:t>/predict/batch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9803B8-4BA7-4EA5-B7D4-C1DC5900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815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bounded batch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56BBD1-F8BE-4BD3-813D-75AD5416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81550"/>
            <a:ext cx="485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max 500 records; validation rejects oversized payloads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EE73A0-DA9C-488C-8F49-7C9117D0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71550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A8B1B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5FF3ED-0167-4D12-ACD9-8504A385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8102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load artifact -&gt; readiness check -&gt; schema validation -&gt; prediction + explanation</a:t>
            </a:r>
          </a:p>
        </p:txBody>
      </p:sp>
    </p:spTree>
    <p:extLst>
      <p:ext uri="{BB962C8B-B14F-4D97-AF65-F5344CB8AC3E}">
        <p14:creationId xmlns:p14="http://schemas.microsoft.com/office/powerpoint/2010/main" val="12386750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ABC027-D3E8-43E2-B9A6-7461139E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solidFill>
              <a:srgbClr val="1014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D303E-779F-459C-9758-3BC0DEAF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INSY684 | Home Credit ML Production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D44DD-909F-43DE-AB92-44558DAF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C112E-1DE0-4D21-8160-0685458F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5F0"/>
          </a:solidFill>
          <a:ln xmlns:a="http://schemas.openxmlformats.org/drawingml/2006/main" w="0">
            <a:solidFill>
              <a:srgbClr val="36C5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285DE-604C-4C19-B5B2-D36A0D3C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36C5F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36C5F0"/>
                </a:solidFill>
                <a:latin typeface="Aptos"/>
                <a:ea typeface="Aptos"/>
                <a:cs typeface="Aptos"/>
              </a:rPr>
              <a:t>EXPERIMENT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146E7-9CFD-4AB3-9722-93C43166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MLflow and Optuna make model improvement reproducible instead of anecdotal.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750976-DA58-4E52-A7F6-43EE6B5D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Training runs produce metrics and artifacts; tuning produces trial history and best parameters.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3A185-ADF7-4769-B73B-79540E1F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36C5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919C05-2A62-4922-A74C-22E11AC6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337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C5F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6C5F0"/>
                </a:solidFill>
                <a:latin typeface="Aptos"/>
                <a:ea typeface="Aptos"/>
                <a:cs typeface="Aptos"/>
              </a:rPr>
              <a:t>Baseline train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62FA7B-2D94-4E10-B64E-1BA93BC4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train-homecredit</a:t>
            </a:r>
          </a:p>
          <a:p xmlns:a="http://schemas.openxmlformats.org/drawingml/2006/main">
            <a:pPr algn="l">
              <a:defRPr sz="938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AUC, PR-AUC, calibration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7DDFB-EB4D-4235-8438-2B12B137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00250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B6E3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D42E1-B676-466E-8CC2-713382A3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098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6E35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6E35C"/>
                </a:solidFill>
                <a:latin typeface="Aptos"/>
                <a:ea typeface="Aptos"/>
                <a:cs typeface="Aptos"/>
              </a:rPr>
              <a:t>MLflow 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CE2F7-7CC6-4ABD-B171-AC98857A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5527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params + metrics</a:t>
            </a:r>
          </a:p>
          <a:p xmlns:a="http://schemas.openxmlformats.org/drawingml/2006/main">
            <a:pPr algn="l">
              <a:defRPr sz="938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reports + plots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BD2E89-7A27-43D7-B958-8656DBF9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F5C5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D0884-7592-4D1B-94B2-9FB1BC44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337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C54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5C542"/>
                </a:solidFill>
                <a:latin typeface="Aptos"/>
                <a:ea typeface="Aptos"/>
                <a:cs typeface="Aptos"/>
              </a:rPr>
              <a:t>Optuna tune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DD8944-EF07-4ECB-B654-E8EE3AF2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766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trial search</a:t>
            </a:r>
          </a:p>
          <a:p xmlns:a="http://schemas.openxmlformats.org/drawingml/2006/main">
            <a:pPr algn="l">
              <a:defRPr sz="938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best params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0EDE1-E2A8-49A2-814D-50304729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00250"/>
            <a:ext cx="2000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FF7A5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169D5-97C4-4D36-9E3E-8204C866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098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7A5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7A59"/>
                </a:solidFill>
                <a:latin typeface="Aptos"/>
                <a:ea typeface="Aptos"/>
                <a:cs typeface="Aptos"/>
              </a:rPr>
              <a:t>Promotion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A200AF-AD78-4F8D-9FBE-D0F3EC3A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527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quality gate</a:t>
            </a:r>
          </a:p>
          <a:p xmlns:a="http://schemas.openxmlformats.org/drawingml/2006/main">
            <a:pPr algn="l">
              <a:defRPr sz="938" b="0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F6F1E8"/>
                </a:solidFill>
                <a:latin typeface="Aptos"/>
                <a:ea typeface="Aptos"/>
                <a:cs typeface="Aptos"/>
              </a:rPr>
              <a:t>fairness + drift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E05751-DA71-4786-A02D-CBA13792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00400"/>
            <a:ext cx="666750" cy="-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A8B1B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A57FC9-9BF5-4F31-A795-71235E57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47950"/>
            <a:ext cx="704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A8B1B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CE0899-7270-43AE-823A-627CC128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00400"/>
            <a:ext cx="666750" cy="-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A8B1B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A40FF7-740E-4BD8-AF4B-F24747C8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481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review feedback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05686D-63B2-4538-86AC-123A3CCA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114800"/>
            <a:ext cx="-6229350" cy="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A8B1B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9D106E-FB49-4AF4-87D7-B592D3F0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53050"/>
            <a:ext cx="904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Artifacts: training_report.json, tuning_report.json, plots/, FAIRNESS.md, MONITORING.md, MODEL_CARD.md</a:t>
            </a:r>
          </a:p>
        </p:txBody>
      </p:sp>
    </p:spTree>
    <p:extLst>
      <p:ext uri="{BB962C8B-B14F-4D97-AF65-F5344CB8AC3E}">
        <p14:creationId xmlns:p14="http://schemas.microsoft.com/office/powerpoint/2010/main" val="15796572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438C51-95DF-4B38-B888-343143AD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solidFill>
              <a:srgbClr val="1014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60A73-BCB6-430D-AD0E-9EAC03BE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INSY684 | Home Credit ML Production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FBF3A8-2BBB-4699-91DC-9F7111A0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69073-59A8-450B-ACF0-04A1BF84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5F0"/>
          </a:solidFill>
          <a:ln xmlns:a="http://schemas.openxmlformats.org/drawingml/2006/main" w="0">
            <a:solidFill>
              <a:srgbClr val="36C5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FDBBC-0645-4E65-9FA8-71378F3F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36C5F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36C5F0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859AE-3980-4F74-BACB-1B48079D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Monitoring is explicit: drift, policy, and subgroup gaps are checked from saved artifacts.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0459E-8BDF-42D7-AFD3-258E48D6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The strongest evidence is that governance reports are generated from data outputs, not written by hand.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EDC50-5977-4D99-A1CF-C3BB237E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200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B6E3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7A9703-36DC-4708-99AA-65203C30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1BA"/>
                </a:solidFill>
                <a:latin typeface="Aptos"/>
                <a:ea typeface="Aptos"/>
                <a:cs typeface="Aptos"/>
              </a:rPr>
              <a:t>Score PSI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C4DA6B-EE4E-4B97-A682-522F87E1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E35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6E35C"/>
                </a:solidFill>
                <a:latin typeface="Aptos"/>
                <a:ea typeface="Aptos"/>
                <a:cs typeface="Aptos"/>
              </a:rPr>
              <a:t>0.001304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0D120-DDD1-4860-9924-0556A590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8384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B6E35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B6E35C"/>
                </a:solidFill>
                <a:latin typeface="Aptos"/>
                <a:ea typeface="Aptos"/>
                <a:cs typeface="Aptos"/>
              </a:rPr>
              <a:t>STABLE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FB56F-424D-4183-B9EB-BA109AD9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3200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B6E35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D6A23-0308-457C-A0EF-31025B96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955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1BA"/>
                </a:solidFill>
                <a:latin typeface="Aptos"/>
                <a:ea typeface="Aptos"/>
                <a:cs typeface="Aptos"/>
              </a:rPr>
              <a:t>Max feature PSI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09683C-67A8-42E2-8523-E017D29E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E35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6E35C"/>
                </a:solidFill>
                <a:latin typeface="Aptos"/>
                <a:ea typeface="Aptos"/>
                <a:cs typeface="Aptos"/>
              </a:rPr>
              <a:t>0.000682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571BC1-310A-418E-B7F8-3D5A514C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384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B6E35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B6E35C"/>
                </a:solidFill>
                <a:latin typeface="Aptos"/>
                <a:ea typeface="Aptos"/>
                <a:cs typeface="Aptos"/>
              </a:rPr>
              <a:t>STABLE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312B57-ACC4-4CD0-8C8B-753F3E78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24100"/>
            <a:ext cx="3200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F5C5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C9195-0B7B-495F-9609-BFAD78AF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955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1BA"/>
                </a:solidFill>
                <a:latin typeface="Aptos"/>
                <a:ea typeface="Aptos"/>
                <a:cs typeface="Aptos"/>
              </a:rPr>
              <a:t>Gender recall gap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CBE88B-8C5E-477A-A1E6-40EDCC95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5C54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5C542"/>
                </a:solidFill>
                <a:latin typeface="Aptos"/>
                <a:ea typeface="Aptos"/>
                <a:cs typeface="Aptos"/>
              </a:rPr>
              <a:t>0.1136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53DD4C-9DC1-4EE7-A44F-7F14113F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3845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F5C542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5C542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F93C9E-8CDF-454B-94A4-9884779D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3200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FF7A5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DC90AE-573C-4CFB-9FC9-65C127F4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1BA"/>
                </a:solidFill>
                <a:latin typeface="Aptos"/>
                <a:ea typeface="Aptos"/>
                <a:cs typeface="Aptos"/>
              </a:rPr>
              <a:t>Income recall gap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15523D-E3CE-4D37-A00E-8F54D475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7A5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7A59"/>
                </a:solidFill>
                <a:latin typeface="Aptos"/>
                <a:ea typeface="Aptos"/>
                <a:cs typeface="Aptos"/>
              </a:rPr>
              <a:t>0.2740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B1C180-A302-4165-840D-FACBE9B6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434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FF7A59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FF7A59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5B45E9-0ABC-42DE-9ADB-9E316FD9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29050"/>
            <a:ext cx="3200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36C5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662835-F9C6-4097-8BA6-A8876F17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1BA"/>
                </a:solidFill>
                <a:latin typeface="Aptos"/>
                <a:ea typeface="Aptos"/>
                <a:cs typeface="Aptos"/>
              </a:rPr>
              <a:t>Approval 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BE3A97-FB77-4C76-B763-B62E212F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862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6C5F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36C5F0"/>
                </a:solidFill>
                <a:latin typeface="Aptos"/>
                <a:ea typeface="Aptos"/>
                <a:cs typeface="Aptos"/>
              </a:rPr>
              <a:t>0.8590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62B157-C530-4CFD-A138-1717C918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36C5F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36C5F0"/>
                </a:solidFill>
                <a:latin typeface="Aptos"/>
                <a:ea typeface="Aptos"/>
                <a:cs typeface="Aptos"/>
              </a:rPr>
              <a:t>POLICY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00B1C8-EDB4-459B-9F28-07D01310D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29050"/>
            <a:ext cx="3200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B6E35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19E85F-D2D7-4B27-A57A-BDCEBD51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00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8B1BA"/>
                </a:solidFill>
                <a:latin typeface="Aptos"/>
                <a:ea typeface="Aptos"/>
                <a:cs typeface="Aptos"/>
              </a:rPr>
              <a:t>Model card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C480B7-C04C-47AA-974B-7FE1C729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86250"/>
            <a:ext cx="142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6E35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6E35C"/>
                </a:solidFill>
                <a:latin typeface="Aptos"/>
                <a:ea typeface="Aptos"/>
                <a:cs typeface="Aptos"/>
              </a:rPr>
              <a:t>generated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C62C0E-0CA1-488A-82C3-41559E69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343400"/>
            <a:ext cx="819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1">
                <a:solidFill>
                  <a:srgbClr val="B6E35C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B6E35C"/>
                </a:solidFill>
                <a:latin typeface="Aptos"/>
                <a:ea typeface="Aptos"/>
                <a:cs typeface="Aptos"/>
              </a:rPr>
              <a:t>READY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69D67C-7C77-47C2-ABFB-E958C308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Alert rule: PSI &lt; 0.10 stable; 0.10-0.25 investigate; &gt;0.25 block automatic promotion.</a:t>
            </a:r>
          </a:p>
        </p:txBody>
      </p:sp>
    </p:spTree>
    <p:extLst>
      <p:ext uri="{BB962C8B-B14F-4D97-AF65-F5344CB8AC3E}">
        <p14:creationId xmlns:p14="http://schemas.microsoft.com/office/powerpoint/2010/main" val="19364883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2E2498-F9C6-401B-B520-FDDB31FCF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solidFill>
              <a:srgbClr val="1014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D56B1-AE63-4534-91E7-EABF54FF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INSY684 | Home Credit ML Production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E6E7F-53E6-42E3-BAD4-9DC4958B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BCF0A-719F-4368-9ADD-85FECED9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5F0"/>
          </a:solidFill>
          <a:ln xmlns:a="http://schemas.openxmlformats.org/drawingml/2006/main" w="0">
            <a:solidFill>
              <a:srgbClr val="36C5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B0954-9A5F-433A-A61C-3502D561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36C5F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36C5F0"/>
                </a:solidFill>
                <a:latin typeface="Aptos"/>
                <a:ea typeface="Aptos"/>
                <a:cs typeface="Aptos"/>
              </a:rPr>
              <a:t>QUALITY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C078B-CDF7-4626-9B80-BE3C47A1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The repository now has a real release gate, not a one-time notebook run.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06CCD3-DA57-475D-A971-F37A78B7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The local and CI checks enforce formatting, typing, tests, dependency locking, and report generation.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0CB0F-D442-4B6C-81BA-7A1B080C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4286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B6E35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BDC68-6F8E-4ECF-B490-8D647BC7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6E35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6E35C"/>
                </a:solidFill>
                <a:latin typeface="Aptos"/>
                <a:ea typeface="Aptos"/>
                <a:cs typeface="Aptos"/>
              </a:rPr>
              <a:t>Local 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FD7FC-7341-4801-8E97-20ED74AF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.\scripts\quality.ps1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2BC1FC-D8A8-4347-A62A-E0BF10FC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266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ruff check .</a:t>
            </a:r>
          </a:p>
          <a:p xmlns:a="http://schemas.openxmlformats.org/drawingml/2006/main">
            <a:pPr algn="l">
              <a:defRPr sz="1350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ty check src tests</a:t>
            </a:r>
          </a:p>
          <a:p xmlns:a="http://schemas.openxmlformats.org/drawingml/2006/main">
            <a:pPr algn="l">
              <a:defRPr sz="1350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pytest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B2BEC-CC82-45BB-9D33-1A76D1E7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266950"/>
            <a:ext cx="5429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36C5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25279-4936-44FE-921E-D3FD5700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908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C5F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36C5F0"/>
                </a:solidFill>
                <a:latin typeface="Aptos"/>
                <a:ea typeface="Aptos"/>
                <a:cs typeface="Aptos"/>
              </a:rPr>
              <a:t>GitHub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80D69-AE06-4F41-8388-003CE08A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24200"/>
            <a:ext cx="323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Python 3.11 + 3.13 matrix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86C78D-85E7-4BD8-8EE6-6ACC5AC1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33800"/>
            <a:ext cx="390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uv sync --all-groups</a:t>
            </a:r>
          </a:p>
          <a:p xmlns:a="http://schemas.openxmlformats.org/drawingml/2006/main">
            <a:pPr algn="l">
              <a:defRPr sz="1350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ruff + ty + pytest</a:t>
            </a:r>
          </a:p>
          <a:p xmlns:a="http://schemas.openxmlformats.org/drawingml/2006/main">
            <a:pPr algn="l">
              <a:defRPr sz="1350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governance report smoke 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F74549-2BF3-4EC7-95CB-1893116A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007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E3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6E35C"/>
                </a:solidFill>
                <a:latin typeface="Aptos"/>
                <a:ea typeface="Aptos"/>
                <a:cs typeface="Aptos"/>
              </a:rPr>
              <a:t>Current status: 15 tests passing; lockfile resolved with uv.</a:t>
            </a:r>
          </a:p>
        </p:txBody>
      </p:sp>
    </p:spTree>
    <p:extLst>
      <p:ext uri="{BB962C8B-B14F-4D97-AF65-F5344CB8AC3E}">
        <p14:creationId xmlns:p14="http://schemas.microsoft.com/office/powerpoint/2010/main" val="16974117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EA3866-6BDA-412D-A18A-8AC3DCCB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solidFill>
              <a:srgbClr val="10141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B6A18-ECD3-47F9-AF20-50987490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INSY684 | Home Credit ML Production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E53666-CF5B-4A1B-BB37-DFAD0A0F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51B8E-8227-423B-9F85-262A77FD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23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C5F0"/>
          </a:solidFill>
          <a:ln xmlns:a="http://schemas.openxmlformats.org/drawingml/2006/main" w="0">
            <a:solidFill>
              <a:srgbClr val="36C5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87832-F10F-4F24-85A7-77AFF5BE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36C5F0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36C5F0"/>
                </a:solidFill>
                <a:latin typeface="Aptos"/>
                <a:ea typeface="Aptos"/>
                <a:cs typeface="Aptos"/>
              </a:rPr>
              <a:t>SLIDE 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281E7-7109-4A57-8697-C1A294B1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F1E8"/>
                </a:solidFill>
                <a:latin typeface="Aptos Display"/>
                <a:ea typeface="Aptos Display"/>
                <a:cs typeface="Aptos Display"/>
              </a:rPr>
              <a:t>Use this as the technical section of the final group deck.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3C3CC-DD3E-4D8F-B598-428EC4E6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The story is strongest when paired with business context, dataset framing, and final model results.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2EBDA-ED85-43B3-8B73-84A3A5F2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3844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9DF12-4CE0-4902-A0E0-E28B59F9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3362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6C5F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6C5F0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0F67C-3467-4708-9BC1-5FF51BCF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431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A3923-FB18-4514-8BF0-4200EF10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52675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Show the model as an ML system, not just a classifier.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BE172-594E-4A40-B7B7-2E7F87E4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3844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B776C2-E7E2-49D1-BBD8-51E14D9B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1942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6C5F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6C5F0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64A7AA-1BDA-4AB1-8EFD-4A7A2966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89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9FF68-913A-4141-BDD5-FBC5B3FF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038475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Use ROC-AUC, PR-AUC, calibration, threshold, and policy cost.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715D46-7F77-4F71-9A93-664DBAA9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3844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9DD2E8-2274-46DC-8C7B-DE20907D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0522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6C5F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6C5F0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5875D9-7071-4A9F-8C20-34C3D2FD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147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297F94-6E4B-4DCB-85E9-39412D4E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24275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Mention FastAPI, Docker, readiness, batch limits, and CI.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05238-44F5-48B3-9671-F7651EB3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3844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71EF32-4663-4259-BBFD-8C845452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9102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6C5F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6C5F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74B862-CE24-41A8-B50B-EA9AD0C1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005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MLOps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0014B4-BC1D-43DD-9183-3D787EC5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410075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Show MLflow tracking, Optuna tuning, drift monitoring, and fairness.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ECE145-3DC8-4CBD-B43F-53F73B40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339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7"/>
          </a:solidFill>
          <a:ln xmlns:a="http://schemas.openxmlformats.org/drawingml/2006/main" w="9525">
            <a:solidFill>
              <a:srgbClr val="3844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0FE79A-B484-4CA1-96E2-C81C5C88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76825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6C5F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6C5F0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28C733-9DA1-4AC3-9C16-2FACC666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863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1E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1E8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76E637-3AAC-45F8-8ABD-AA6DBB67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95875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8B1BA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8B1BA"/>
                </a:solidFill>
                <a:latin typeface="Aptos"/>
                <a:ea typeface="Aptos"/>
                <a:cs typeface="Aptos"/>
              </a:rPr>
              <a:t>Use FAIRNESS.md, MONITORING.md, and MODEL_CARD.md as proof.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120455-6CDC-46A4-9736-55CD146E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91200"/>
            <a:ext cx="809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6E35C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6E35C"/>
                </a:solidFill>
                <a:latin typeface="Aptos"/>
                <a:ea typeface="Aptos"/>
                <a:cs typeface="Aptos"/>
              </a:rPr>
              <a:t>Recommended placement: after model-results slides and before limitations / next steps.</a:t>
            </a:r>
          </a:p>
        </p:txBody>
      </p:sp>
    </p:spTree>
    <p:extLst>
      <p:ext uri="{BB962C8B-B14F-4D97-AF65-F5344CB8AC3E}">
        <p14:creationId xmlns:p14="http://schemas.microsoft.com/office/powerpoint/2010/main" val="1511496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2026-06-14T02:23:39.9970000Z</dcterms:created>
  <dcterms:modified xsi:type="dcterms:W3CDTF">2026-06-14T02:23:39.9980000Z</dcterms:modified>
</coreProperties>
</file>
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43f0e1de0c4cd3" /><Relationship Type="http://schemas.openxmlformats.org/officeDocument/2006/relationships/extended-properties" Target="/docProps/app.xml" Id="Re3f7e01504034304" /><Relationship Type="http://schemas.openxmlformats.org/officeDocument/2006/relationships/officeDocument" Target="/ppt/presentation.xml" Id="R8fc9a2560db64c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bb0a57f11f426a"/>
  </p:sldMasterIdLst>
  <p:notesMasterIdLst>
    <p:notesMasterId xmlns:r="http://schemas.openxmlformats.org/officeDocument/2006/relationships" r:id="R2c15aaafa528416a"/>
  </p:notesMasterIdLst>
  <p:sldIdLst>
    <p:sldId xmlns:r="http://schemas.openxmlformats.org/officeDocument/2006/relationships" id="256" r:id="Reabfcbb637b64958"/>
    <p:sldId xmlns:r="http://schemas.openxmlformats.org/officeDocument/2006/relationships" id="257" r:id="Rcfa877a3c68840ed"/>
    <p:sldId xmlns:r="http://schemas.openxmlformats.org/officeDocument/2006/relationships" id="258" r:id="R75837ec191394afe"/>
    <p:sldId xmlns:r="http://schemas.openxmlformats.org/officeDocument/2006/relationships" id="259" r:id="R1f932600a2b849aa"/>
    <p:sldId xmlns:r="http://schemas.openxmlformats.org/officeDocument/2006/relationships" id="260" r:id="Ra85e57f015a64886"/>
    <p:sldId xmlns:r="http://schemas.openxmlformats.org/officeDocument/2006/relationships" id="261" r:id="Rb5c56d37027c440a"/>
    <p:sldId xmlns:r="http://schemas.openxmlformats.org/officeDocument/2006/relationships" id="262" r:id="R26f6d755dd594088"/>
    <p:sldId xmlns:r="http://schemas.openxmlformats.org/officeDocument/2006/relationships" id="263" r:id="Rf1f5529d8ea542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d15ec351594aee" /><Relationship Type="http://schemas.openxmlformats.org/officeDocument/2006/relationships/slideMaster" Target="/ppt/slideMasters/slideMaster1.xml" Id="R83bb0a57f11f426a" /><Relationship Type="http://schemas.openxmlformats.org/officeDocument/2006/relationships/notesMaster" Target="/ppt/notesMasters/notesMaster1.xml" Id="R2c15aaafa528416a" /><Relationship Type="http://schemas.openxmlformats.org/officeDocument/2006/relationships/presProps" Target="/ppt/presProps.xml" Id="Rf2132de0d184448a" /><Relationship Type="http://schemas.openxmlformats.org/officeDocument/2006/relationships/viewProps" Target="/ppt/viewProps.xml" Id="R8c3febea18914b2d" /><Relationship Type="http://schemas.openxmlformats.org/officeDocument/2006/relationships/tableStyles" Target="/ppt/tableStyles.xml" Id="R8050c4002223441a" /><Relationship Type="http://schemas.openxmlformats.org/officeDocument/2006/relationships/slide" Target="/ppt/slides/slide1.xml" Id="Reabfcbb637b64958" /><Relationship Type="http://schemas.openxmlformats.org/officeDocument/2006/relationships/slide" Target="/ppt/slides/slide2.xml" Id="Rcfa877a3c68840ed" /><Relationship Type="http://schemas.openxmlformats.org/officeDocument/2006/relationships/slide" Target="/ppt/slides/slide3.xml" Id="R75837ec191394afe" /><Relationship Type="http://schemas.openxmlformats.org/officeDocument/2006/relationships/slide" Target="/ppt/slides/slide4.xml" Id="R1f932600a2b849aa" /><Relationship Type="http://schemas.openxmlformats.org/officeDocument/2006/relationships/slide" Target="/ppt/slides/slide5.xml" Id="Ra85e57f015a64886" /><Relationship Type="http://schemas.openxmlformats.org/officeDocument/2006/relationships/slide" Target="/ppt/slides/slide6.xml" Id="Rb5c56d37027c440a" /><Relationship Type="http://schemas.openxmlformats.org/officeDocument/2006/relationships/slide" Target="/ppt/slides/slide7.xml" Id="R26f6d755dd594088" /><Relationship Type="http://schemas.openxmlformats.org/officeDocument/2006/relationships/slide" Target="/ppt/slides/slide8.xml" Id="Rf1f5529d8ea542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109f1632d048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0fada11cdf49ad" /><Relationship Type="http://schemas.openxmlformats.org/officeDocument/2006/relationships/notesMaster" Target="/ppt/notesMasters/notesMaster1.xml" Id="Rdd677a5c95af4e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37403296df40b0" /><Relationship Type="http://schemas.openxmlformats.org/officeDocument/2006/relationships/notesMaster" Target="/ppt/notesMasters/notesMaster1.xml" Id="R3b040e2e4c5244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84bff85bfa4d76" /><Relationship Type="http://schemas.openxmlformats.org/officeDocument/2006/relationships/notesMaster" Target="/ppt/notesMasters/notesMaster1.xml" Id="R660742122cc147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5a132574594f56" /><Relationship Type="http://schemas.openxmlformats.org/officeDocument/2006/relationships/notesMaster" Target="/ppt/notesMasters/notesMaster1.xml" Id="R72fcaf715f664b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f36d55207b44e1" /><Relationship Type="http://schemas.openxmlformats.org/officeDocument/2006/relationships/notesMaster" Target="/ppt/notesMasters/notesMaster1.xml" Id="Rb2ed6a5c2dc04a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e5bc2997784266" /><Relationship Type="http://schemas.openxmlformats.org/officeDocument/2006/relationships/notesMaster" Target="/ppt/notesMasters/notesMaster1.xml" Id="Rf07ea57edb4f4f0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742fc9d17b4268" /><Relationship Type="http://schemas.openxmlformats.org/officeDocument/2006/relationships/notesMaster" Target="/ppt/notesMasters/notesMaster1.xml" Id="Rd0298d61540c49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25d5a7d4924c6b" /><Relationship Type="http://schemas.openxmlformats.org/officeDocument/2006/relationships/notesMaster" Target="/ppt/notesMasters/notesMaster1.xml" Id="Re9619b00aba746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6f9f13c6b24f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b8ca7d0d1a4932" /><Relationship Type="http://schemas.openxmlformats.org/officeDocument/2006/relationships/slideLayout" Target="/ppt/slideLayouts/slideLayout1.xml" Id="R27b81768f3f240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b81768f3f240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d5f4b578e4f39" /><Relationship Type="http://schemas.openxmlformats.org/officeDocument/2006/relationships/notesSlide" Target="/ppt/notesSlides/notesSlide1.xml" Id="R9e89685286e540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e1f8d4dbc4dbc" /><Relationship Type="http://schemas.openxmlformats.org/officeDocument/2006/relationships/notesSlide" Target="/ppt/notesSlides/notesSlide2.xml" Id="R2a1c16c1a42542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dec3ae9054d20" /><Relationship Type="http://schemas.openxmlformats.org/officeDocument/2006/relationships/notesSlide" Target="/ppt/notesSlides/notesSlide3.xml" Id="Rf3bfe473218944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f0c9ffb114920" /><Relationship Type="http://schemas.openxmlformats.org/officeDocument/2006/relationships/notesSlide" Target="/ppt/notesSlides/notesSlide4.xml" Id="Rb37ee2afa52244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60cb6c9f844de" /><Relationship Type="http://schemas.openxmlformats.org/officeDocument/2006/relationships/notesSlide" Target="/ppt/notesSlides/notesSlide5.xml" Id="R1b3a4bdf9c3f45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ac6be37494935" /><Relationship Type="http://schemas.openxmlformats.org/officeDocument/2006/relationships/image" Target="/ppt/media/image.png" Id="R94503584983f46db" /><Relationship Type="http://schemas.openxmlformats.org/officeDocument/2006/relationships/image" Target="/ppt/media/image2.png" Id="R17f2e078777d4467" /><Relationship Type="http://schemas.openxmlformats.org/officeDocument/2006/relationships/notesSlide" Target="/ppt/notesSlides/notesSlide6.xml" Id="R70fe1d6db5ab44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6e0210369a4aea" /><Relationship Type="http://schemas.openxmlformats.org/officeDocument/2006/relationships/image" Target="/ppt/media/image3.png" Id="Rf8fbca74c9e743d1" /><Relationship Type="http://schemas.openxmlformats.org/officeDocument/2006/relationships/notesSlide" Target="/ppt/notesSlides/notesSlide7.xml" Id="R76b5086f726b46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7b05a4b984efe" /><Relationship Type="http://schemas.openxmlformats.org/officeDocument/2006/relationships/notesSlide" Target="/ppt/notesSlides/notesSlide8.xml" Id="R73412ee921db4ea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5DECED-EA6E-4AE1-9588-776A044B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B32525-40CB-4788-AB77-C442A912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8994995-45C5-4FA6-A08A-266410ED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INSY684 GROUP PROJECT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CFD4C2A-EF16-4D6F-AFDE-13CE998C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7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EC86817-86E0-4E26-8485-CD9E9EBF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6FF36D3-CB37-4956-8F69-EE760252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FINAL TECHNICAL SECTION</a:t>
            </a:r>
          </a:p>
        </p:txBody>
      </p:sp>
      <p:sp>
        <p:nvSpPr>
          <p:cNvPr id="7" name="claim-title">
            <a:extLst xmlns:a="http://schemas.openxmlformats.org/drawingml/2006/main">
              <a:ext uri="{FF2B5EF4-FFF2-40B4-BE49-F238E27FC236}">
                <a16:creationId xmlns:a16="http://schemas.microsoft.com/office/drawing/2014/main" id="{B36BFA98-FAB5-4718-902E-739A979A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Home Credit model is now backed by real experiment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F09FB-7312-43EC-A95D-839BB62B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Production-oriented default-risk scoring with reproducible training, MLflow tracking, Optuna tuning, governance reports, CI, Docker packaging, and FastAPI serving.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2321A-703C-48E9-B4C7-573BBBAC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5AA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5AA8"/>
                </a:solidFill>
                <a:latin typeface="Aptos Display"/>
                <a:ea typeface="Aptos Display"/>
                <a:cs typeface="Aptos Display"/>
              </a:rPr>
              <a:t>0.7619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234F7A-83CB-446F-8B8C-1D5FA3AE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48075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sampled validation ROC-AUC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48DD2-B797-4FEF-B54D-BCF6E742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43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0.7679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A882E0-7999-4DAB-AD13-C0AFEF78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48075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best Optuna validation ROC-AUC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FD1210-02A3-4955-A92E-215DB937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43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3F7C79-D00A-4DE7-8AD5-63D84698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48075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engineered model features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2B82E2-75FE-4DE3-89C0-AC72097B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43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781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C07818"/>
                </a:solidFill>
                <a:latin typeface="Aptos Display"/>
                <a:ea typeface="Aptos Display"/>
                <a:cs typeface="Aptos Display"/>
              </a:rPr>
              <a:t>50,000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6029F2-8331-4245-93E8-357C292A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48075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fresh sampled training 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D09F3E-4679-4457-ABB4-2CEDF041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0"/>
            <a:ext cx="914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Evidence: artifacts/training_report.json, artifacts/tuning_report.json, docs/EXPERIMENT_TRACKING.md.</a:t>
            </a:r>
          </a:p>
        </p:txBody>
      </p:sp>
    </p:spTree>
    <p:extLst>
      <p:ext uri="{BB962C8B-B14F-4D97-AF65-F5344CB8AC3E}">
        <p14:creationId xmlns:p14="http://schemas.microsoft.com/office/powerpoint/2010/main" val="10214833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2E499B-1B97-4885-84F6-ADCC1D8E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53447E-CD77-41FB-BD9B-E23F926B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5250E46-274A-47AD-B6ED-CC3D904B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INSY684 GROUP PROJECT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35A2AB84-F823-4BA6-86DF-4125E421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7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BE86853-B299-43F7-A29E-98656AB1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59149F3-D4F5-4BA4-8C09-1261A28B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PRODUCTION SHAPE</a:t>
            </a:r>
          </a:p>
        </p:txBody>
      </p:sp>
      <p:sp>
        <p:nvSpPr>
          <p:cNvPr id="7" name="claim-title">
            <a:extLst xmlns:a="http://schemas.openxmlformats.org/drawingml/2006/main">
              <a:ext uri="{FF2B5EF4-FFF2-40B4-BE49-F238E27FC236}">
                <a16:creationId xmlns:a16="http://schemas.microsoft.com/office/drawing/2014/main" id="{F777044D-0A3D-42DB-9645-39CE2DBF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144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project now reads like a production ML system, not a notebook exercise.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2CBFA-1855-4A5F-AE8E-04F3F4DE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0CB10-A64A-484D-821F-BF1E84BA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Raw Kaggle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FAE1A-81E1-4DA0-AA81-A5D4319A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8 source CSVs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F26398-BAB2-468B-9B82-D54286C7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289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D2CD30-A1EB-40F3-96A8-3811E1A0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7650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32BA12-4F1C-40AF-87BD-E2B80037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432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Feature 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5B7D2D-27B8-4084-B86F-1FC1DC75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432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450 model features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26DD41-8841-47B4-95EA-4866E983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289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72442B-48D5-4ACF-AF3E-4B567037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7650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61739C-C1E1-404D-948A-56AFDAD4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432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LightGBM 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663CDA-A3F8-49BC-8A2B-723B6F21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MLflow + Optuna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5346F7-8A61-44EA-AD6E-D50FB14D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289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49814-951F-4D8E-81E4-CA43A94C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7650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21DA5D-B66C-4CF1-9B4D-51FF7CE1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432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FastAPI service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3D0BA4-314C-4184-B635-E8E1D496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432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/health + /ready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EF039F-F80C-474F-BA97-81F7E475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289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AF1F37-A002-42FD-9FD5-5E3DBF54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85E928-7497-4188-A743-378DAE95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432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Monitoring loop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84E0BA-2CC5-4835-BDC2-59CA4103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432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drift + fairness docs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4C67C8-87CF-494C-A596-DC7DF92C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553E8-0953-4022-892B-B578756A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6305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Docker image uses locked dependencies and runtime model artifact mounting.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ADC1A4-A3D5-4B49-9436-1045FE86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F8865D-E009-470E-B889-10AB0673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7067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CI verifies lint, type checks, tests, governance report generation, and Docker build packaging.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AFD5AA-AFB7-4BF5-B1EA-3EFD87AD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673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572787-9A61-4036-AD99-625F73D5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91125"/>
            <a:ext cx="744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Model readiness is separate from process health, which is the right serving contract for deployment.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46382A-230D-43FA-ACD6-C8B58889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0"/>
            <a:ext cx="914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Evidence: Dockerfile, .github/workflows/, docs/DEPLOYMENT.md, src/homecredit_service/main.py.</a:t>
            </a:r>
          </a:p>
        </p:txBody>
      </p:sp>
    </p:spTree>
    <p:extLst>
      <p:ext uri="{BB962C8B-B14F-4D97-AF65-F5344CB8AC3E}">
        <p14:creationId xmlns:p14="http://schemas.microsoft.com/office/powerpoint/2010/main" val="95021700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2CFEDD-F38E-4889-AB13-5A22BBCF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A90939-DA39-4999-85FA-4F89AA3D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EC1E54B-9B9A-474D-98FE-7E415675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INSY684 GROUP PROJECT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0A9B429-5C4F-4312-8841-4670196E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7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976F9AE-2C3A-45BE-91C0-CD066420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BF91374-4C48-42CD-BCF4-E958D7BD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DATA AND FEATURES</a:t>
            </a:r>
          </a:p>
        </p:txBody>
      </p:sp>
      <p:sp>
        <p:nvSpPr>
          <p:cNvPr id="7" name="claim-title">
            <a:extLst xmlns:a="http://schemas.openxmlformats.org/drawingml/2006/main">
              <a:ext uri="{FF2B5EF4-FFF2-40B4-BE49-F238E27FC236}">
                <a16:creationId xmlns:a16="http://schemas.microsoft.com/office/drawing/2014/main" id="{C0F9F3F6-B1A2-47AE-AE02-150E65D3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953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fresh experiment uses a realistic multi-table credit-risk feature set.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BE433-8196-4377-B5A7-807596C6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5AA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5AA8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BDB2D-FA1A-4B74-9231-C71B45A4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5575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Home Credit raw tables validated before training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7B742E-6370-43E9-A50B-6ABCED4A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9075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8988D3-8AE7-4D6C-B6A8-B397142F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9557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numeric, encoded, and aggregate model features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D1040C-23FA-47BA-A866-0DD7385C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907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781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C07818"/>
                </a:solidFill>
                <a:latin typeface="Aptos Display"/>
                <a:ea typeface="Aptos Display"/>
                <a:cs typeface="Aptos Display"/>
              </a:rPr>
              <a:t>35k / 10k / 5k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AE25F-3FEA-441B-A7C9-6F933EE9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95575"/>
            <a:ext cx="295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train / validation / test split rows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7D42B2-98A7-4BBD-9297-1039F8C3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009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9BA9A4-4987-4AAC-A695-301821A6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952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Feature engineering aggregates bureau, bureau balance, previous applications, POS cash, installments, and credit card history into applicant-level risk signals. ID join keys are normalized to stable int64 types before table merges, which keeps the pipeline robust across pandas versions.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26235D-B3C3-461E-A27E-326E1212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0"/>
            <a:ext cx="914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Evidence: src/homecredit_service/features.py and artifacts/training_report.json.</a:t>
            </a:r>
          </a:p>
        </p:txBody>
      </p:sp>
    </p:spTree>
    <p:extLst>
      <p:ext uri="{BB962C8B-B14F-4D97-AF65-F5344CB8AC3E}">
        <p14:creationId xmlns:p14="http://schemas.microsoft.com/office/powerpoint/2010/main" val="9505439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1A131D-8300-47BA-8C77-462500C2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DEF0C-9EAB-426E-9B06-54461F51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BF4E6C6-8D3B-4B1D-84DF-AC38AD4C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INSY684 GROUP PROJECT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F4E61DF1-7AE4-4187-A445-2BA8197E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7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2583089-F3A2-476C-9955-5507208D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77C9336-C9A0-4FB6-99E1-7402C8AA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MLFLOW TRACKING</a:t>
            </a:r>
          </a:p>
        </p:txBody>
      </p:sp>
      <p:sp>
        <p:nvSpPr>
          <p:cNvPr id="7" name="claim-title">
            <a:extLst xmlns:a="http://schemas.openxmlformats.org/drawingml/2006/main">
              <a:ext uri="{FF2B5EF4-FFF2-40B4-BE49-F238E27FC236}">
                <a16:creationId xmlns:a16="http://schemas.microsoft.com/office/drawing/2014/main" id="{A53D0991-C713-4B1B-95DA-85BCDD4B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final run is traceable by metrics, parameters, artifacts, and run ID.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4FC376-2C3A-4714-8FF9-67DE84D2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C2757F-F4E4-4411-A143-0F05346F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400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sampled-50000-final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45EBAC-2DE3-4890-8185-2B14DDBA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409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Run ID: e39bb77d177f41298e7cc44275e5db30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788113-DD22-40BE-96CD-2E1B0291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3905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Logged outputs include training report, plots, calibration tables, threshold policy, and dependency snapshot.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2A62C-6282-4A44-8F2D-FF96110C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336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5AA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5AA8"/>
                </a:solidFill>
                <a:latin typeface="Aptos Display"/>
                <a:ea typeface="Aptos Display"/>
                <a:cs typeface="Aptos Display"/>
              </a:rPr>
              <a:t>0.9679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D59D77-F557-4D4F-8470-2D73470C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train ROC-AUC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1E3C44-05A1-4621-A311-C4118F67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333625"/>
            <a:ext cx="209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0.7619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578FE0-2A8A-4ECD-919A-4EDA03CD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384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validation ROC-AUC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C28E01-BCC7-44AD-A3D6-D68202B3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0.2545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A90810-F680-4189-91F3-AD701361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validation PR-AUC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0DE26-B1EF-4AB0-92F1-4C42102E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905250"/>
            <a:ext cx="209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781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C07818"/>
                </a:solidFill>
                <a:latin typeface="Aptos Display"/>
                <a:ea typeface="Aptos Display"/>
                <a:cs typeface="Aptos Display"/>
              </a:rPr>
              <a:t>0.549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E70AFB-2D2E-4D86-AD64-55377C83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410075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selected threshold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276B96-D82F-435E-A0E0-A443BA36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0"/>
            <a:ext cx="914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Evidence: local MLflow run, artifacts/training_report.json, docs/EXPERIMENT_TRACKING.md.</a:t>
            </a:r>
          </a:p>
        </p:txBody>
      </p:sp>
    </p:spTree>
    <p:extLst>
      <p:ext uri="{BB962C8B-B14F-4D97-AF65-F5344CB8AC3E}">
        <p14:creationId xmlns:p14="http://schemas.microsoft.com/office/powerpoint/2010/main" val="42982840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433F80-02CD-4C1B-A9FE-3E625D89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ED036-28C0-4207-AFD4-64CF5A98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44C24B8-DC2D-4678-91BE-213746B9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INSY684 GROUP PROJECT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6C13278-60BF-4041-88CD-E4998773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7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C00C719-0CDE-42C7-A243-8DF03F87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80C8D31-96C8-4325-AB41-E250C11E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HYPERPARAMETER OPTIMIZATION</a:t>
            </a:r>
          </a:p>
        </p:txBody>
      </p:sp>
      <p:sp>
        <p:nvSpPr>
          <p:cNvPr id="7" name="claim-title">
            <a:extLst xmlns:a="http://schemas.openxmlformats.org/drawingml/2006/main">
              <a:ext uri="{FF2B5EF4-FFF2-40B4-BE49-F238E27FC236}">
                <a16:creationId xmlns:a16="http://schemas.microsoft.com/office/drawing/2014/main" id="{D2110F79-E8BC-455F-B818-4A140BFD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Optuna found a better validation setting within ten trials.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B56EC-C615-4FD1-B96E-D72C3E05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7239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85477B-61DD-4C75-9E5A-46D913B0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74056"/>
            <a:ext cx="400050" cy="8884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5F658-BB97-4749-9646-53D8F30C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958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B61E0-1298-4152-AAE3-FABA466D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49792"/>
            <a:ext cx="400050" cy="7127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4FA2-AF04-433C-99A9-F3160E75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8958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2C461D-E23A-4240-826C-FCC1FB23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590925"/>
            <a:ext cx="4000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3E964F-390D-4A5A-BE37-9A6598B5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8958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A46830-0248-460D-AD52-D17A34F5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464004"/>
            <a:ext cx="400050" cy="12984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2C5170-80CC-488E-9CAB-3BD44725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8958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9A82BE-E85E-44D2-9AA8-D8E0D4A2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284107"/>
            <a:ext cx="400050" cy="4783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35BB4D-C09A-4CDA-83C6-B7890F62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8958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74C8F4-E8C5-4FF8-88DC-05D6C7B9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49504"/>
            <a:ext cx="400050" cy="11129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82CD21-0C6D-4063-99CB-12EFFEBF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958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F33B27-2EE1-43A4-AF7C-F56E690A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922871"/>
            <a:ext cx="400050" cy="8396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A571E1-4CFA-4FA9-BC6C-A683F86F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8958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53CE4B-D982-4BF1-9AF6-4AA56DFB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561636"/>
            <a:ext cx="400050" cy="1200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63D6EF-061B-4270-B43D-04F42A5C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8958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14864D-A02E-4076-A8BA-6CB409C0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47423"/>
            <a:ext cx="400050" cy="6150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761A5E-BF5A-4C24-A576-2DC333CC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BFA9A7-C80C-4E01-884B-4E9CA8FA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14901"/>
            <a:ext cx="400050" cy="17475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BEBD5B-6157-4338-9A09-622C50F7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8958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1ABC55-0DED-469F-A58F-16BCB832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43125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Validation ROC-AUC by Optuna 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B6F84A-873F-40CF-8443-A43251C0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28600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0.7679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CFAD01-71AE-4972-9D0B-D986306C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956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best validation ROC-AUC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B65558-03A1-4C35-88A6-14FF0A30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76625"/>
            <a:ext cx="24288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Best trial: 9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n_estimators: 387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learning_rate: 0.0199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num_leaves: 28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max_depth: 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44F929-CB2F-47BA-9432-3BB5E3D5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0"/>
            <a:ext cx="914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Evidence: artifacts/tuning_report.json and artifacts/tuning_trials.csv.</a:t>
            </a:r>
          </a:p>
        </p:txBody>
      </p:sp>
    </p:spTree>
    <p:extLst>
      <p:ext uri="{BB962C8B-B14F-4D97-AF65-F5344CB8AC3E}">
        <p14:creationId xmlns:p14="http://schemas.microsoft.com/office/powerpoint/2010/main" val="82889449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B7A1C1-5146-4D85-90E3-9EC67781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5DD326-88BB-4274-B7D6-39477C36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AF65B64-C199-4106-991F-48BEC30D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INSY684 GROUP PROJECT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06A82C0-AC85-4F77-BBCF-0F13BD80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7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C1DF6C6-9E49-4DEA-A66E-F49EB959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88FD252-8662-4A9B-9B61-647DD2BC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VALIDATION EVIDENCE</a:t>
            </a:r>
          </a:p>
        </p:txBody>
      </p:sp>
      <p:sp>
        <p:nvSpPr>
          <p:cNvPr id="7" name="claim-title">
            <a:extLst xmlns:a="http://schemas.openxmlformats.org/drawingml/2006/main">
              <a:ext uri="{FF2B5EF4-FFF2-40B4-BE49-F238E27FC236}">
                <a16:creationId xmlns:a16="http://schemas.microsoft.com/office/drawing/2014/main" id="{F2F7FF8D-4825-4AA8-B702-78E9017E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Learning curves and calibration artifacts make model behavior inspectable.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503584983f46db"/>
          <a:stretch xmlns:a="http://schemas.openxmlformats.org/drawingml/2006/main"/>
        </p:blipFill>
        <p:spPr>
          <a:xfrm xmlns:a="http://schemas.openxmlformats.org/drawingml/2006/main">
            <a:off x="647700" y="2238375"/>
            <a:ext cx="5334000" cy="2667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2e078777d4467"/>
          <a:stretch xmlns:a="http://schemas.openxmlformats.org/drawingml/2006/main"/>
        </p:blipFill>
        <p:spPr>
          <a:xfrm xmlns:a="http://schemas.openxmlformats.org/drawingml/2006/main">
            <a:off x="7048500" y="1952625"/>
            <a:ext cx="3238500" cy="3238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A0B48-AB20-4B6F-8357-07BE7395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923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deck can show both rank quality and probability behavior rather than relying on one headline metric.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256DE7-6ABD-46BC-BEA7-F60F5D61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0"/>
            <a:ext cx="914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Evidence: artifacts/plots/train_validation_learning_curve.png and validation_calibration_curve.png.</a:t>
            </a:r>
          </a:p>
        </p:txBody>
      </p:sp>
    </p:spTree>
    <p:extLst>
      <p:ext uri="{BB962C8B-B14F-4D97-AF65-F5344CB8AC3E}">
        <p14:creationId xmlns:p14="http://schemas.microsoft.com/office/powerpoint/2010/main" val="172955279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A9587E-254C-49FC-B7E6-C2AE40DE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A5553-10CF-4AA6-99A5-36DBC980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9B93C5F-B4BC-4C8F-9A71-30513DD1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INSY684 GROUP PROJECT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22FA8A4-6239-4942-A5CB-B454C865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7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5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CCDAF92-4D73-405E-9D7D-469663CF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83E61B5-BE60-4BCB-B126-8896748B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GOVERNANCE AND MONITORING</a:t>
            </a:r>
          </a:p>
        </p:txBody>
      </p:sp>
      <p:sp>
        <p:nvSpPr>
          <p:cNvPr id="7" name="claim-title">
            <a:extLst xmlns:a="http://schemas.openxmlformats.org/drawingml/2006/main">
              <a:ext uri="{FF2B5EF4-FFF2-40B4-BE49-F238E27FC236}">
                <a16:creationId xmlns:a16="http://schemas.microsoft.com/office/drawing/2014/main" id="{18C7C99B-43E6-4384-8CB4-6FB827E9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144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model ships with fairness, monitoring, and threshold governance evidence.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bca74c9e743d1"/>
          <a:stretch xmlns:a="http://schemas.openxmlformats.org/drawingml/2006/main"/>
        </p:blipFill>
        <p:spPr>
          <a:xfrm xmlns:a="http://schemas.openxmlformats.org/drawingml/2006/main">
            <a:off x="895350" y="2095500"/>
            <a:ext cx="3543300" cy="2952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52FB20-62F0-43A9-8C75-81E45036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4098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0041A0-4A7B-4A69-B158-28F83445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333625"/>
            <a:ext cx="5162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Model card summarizes intended use, metrics, risks, and approval guardrails.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F0EDC8-515A-49F3-A074-029BDA2B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028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CE3750-1B7C-4446-98C7-6D8AEA0E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952750"/>
            <a:ext cx="5162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Fairness report tracks subgroup counts, AUC, recall, approval rate, and default rate.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427D04-168A-4E22-98E4-437FD3D0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480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217AF3-4683-4E6B-ACB3-73965F03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571875"/>
            <a:ext cx="535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Monitoring report records validation AUC, PR-AUC, score PSI, feature drift, and cost policy.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31380F-5989-495B-907F-3E889102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267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8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9820A4-E1AE-4CC3-925C-7EA0C80D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191000"/>
            <a:ext cx="535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Threshold optimization compares expected cost and supports a policy discussion instead of raw score dumping.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DCD677-D0B2-48D8-BAD6-D9E6D785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0"/>
            <a:ext cx="914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Evidence: docs/MODEL_CARD.md, docs/FAIRNESS.md, docs/MONITORING.md, artifacts/validation_confusion_matrix.csv.</a:t>
            </a:r>
          </a:p>
        </p:txBody>
      </p:sp>
    </p:spTree>
    <p:extLst>
      <p:ext uri="{BB962C8B-B14F-4D97-AF65-F5344CB8AC3E}">
        <p14:creationId xmlns:p14="http://schemas.microsoft.com/office/powerpoint/2010/main" val="107465911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8E55EA-7131-46A5-B4EE-3B1DCC66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C0F770-0FAF-49BD-9F0D-5310D033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2626D63-616D-4B71-BB2B-2329BC0D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INSY684 GROUP PROJECT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4B776BF-D5DA-4AE7-A003-69685B6E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7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5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04F828B-A26E-4FF0-9164-0ED327F3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BF679BA-80DB-40AA-9809-7759FD72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FINAL READOUT</a:t>
            </a:r>
          </a:p>
        </p:txBody>
      </p:sp>
      <p:sp>
        <p:nvSpPr>
          <p:cNvPr id="7" name="claim-title">
            <a:extLst xmlns:a="http://schemas.openxmlformats.org/drawingml/2006/main">
              <a:ext uri="{FF2B5EF4-FFF2-40B4-BE49-F238E27FC236}">
                <a16:creationId xmlns:a16="http://schemas.microsoft.com/office/drawing/2014/main" id="{697009B7-9943-4559-9247-9E2FB85F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144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strongest submission story is implementation plus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7FBF1-19C8-4BE7-893F-CBAB0396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5DAF3-2E3C-4205-BE7E-C670C23A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CI, Docker, tests, serving, governance docs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03D1BB-94E5-464E-8FD6-E587B951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9075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5AA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5AA8"/>
                </a:solidFill>
                <a:latin typeface="Aptos Display"/>
                <a:ea typeface="Aptos Display"/>
                <a:cs typeface="Aptos Display"/>
              </a:rPr>
              <a:t>Done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113F7B-7623-4A82-BF71-F8FA5959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9557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MLflow training run and Optuna tuning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79A7C0-02CE-496D-B65C-0D3B2B11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57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781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C07818"/>
                </a:solidFill>
                <a:latin typeface="Aptos Display"/>
                <a:ea typeface="Aptos Display"/>
                <a:cs typeface="Aptos Display"/>
              </a:rPr>
              <a:t>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29396E-940D-4646-BD35-229A9772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9557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merge these slides into the group deck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3F91E-29D3-4E90-86ED-3482A0B1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9810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CB97FF-520E-4D53-8147-EEED4A5F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A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E653C-B44E-41ED-800A-D9B3BFC6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7924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Mention the full historical baseline test AUC separately from the sampled MLflow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715C4-85BC-42ED-B018-A3AD915D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80A316-BA95-4E6D-BAFA-288539A5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57750"/>
            <a:ext cx="7924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Use the Optuna best AUC as proof that hyperparameter optimization was actually run.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EF1D4F-026E-471A-95D2-61513EDB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Suggested speaker note: this is not a leaderboard exercise; it is a production ML project with reproducibility, tracking, serving, governance, and deployment readiness.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92C75F-C414-470B-8154-6DBC34A1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0"/>
            <a:ext cx="914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Evidence package committed to GitHub branch code.</a:t>
            </a:r>
          </a:p>
        </p:txBody>
      </p:sp>
    </p:spTree>
    <p:extLst>
      <p:ext uri="{BB962C8B-B14F-4D97-AF65-F5344CB8AC3E}">
        <p14:creationId xmlns:p14="http://schemas.microsoft.com/office/powerpoint/2010/main" val="8363008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2026-06-14T17:15:03.2460000Z</dcterms:created>
  <dcterms:modified xsi:type="dcterms:W3CDTF">2026-06-14T17:15:03.2460000Z</dcterms:modified>
</coreProperties>
</file>